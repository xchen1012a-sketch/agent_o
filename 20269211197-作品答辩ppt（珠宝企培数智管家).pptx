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70" r:id="rId10"/>
    <p:sldId id="274" r:id="rId11"/>
    <p:sldId id="266" r:id="rId12"/>
    <p:sldId id="267" r:id="rId13"/>
    <p:sldId id="275" r:id="rId14"/>
    <p:sldId id="273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5426"/>
    <a:srgbClr val="1E5349"/>
    <a:srgbClr val="EEF4FF"/>
    <a:srgbClr val="ECFDF3"/>
    <a:srgbClr val="E9E9EA"/>
    <a:srgbClr val="3F362D"/>
    <a:srgbClr val="B789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102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457200" indent="0">
              <a:buNone/>
              <a:defRPr sz="24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2200" b="1"/>
            </a:lvl4pPr>
            <a:lvl5pPr marL="1828800" indent="0">
              <a:buNone/>
              <a:defRPr sz="2200" b="1"/>
            </a:lvl5pPr>
            <a:lvl6pPr marL="2286000" indent="0">
              <a:buNone/>
              <a:defRPr sz="2200" b="1"/>
            </a:lvl6pPr>
            <a:lvl7pPr marL="2743200" indent="0">
              <a:buNone/>
              <a:defRPr sz="2200" b="1"/>
            </a:lvl7pPr>
            <a:lvl8pPr marL="3200400" indent="0">
              <a:buNone/>
              <a:defRPr sz="2200" b="1"/>
            </a:lvl8pPr>
            <a:lvl9pPr marL="3657600" indent="0">
              <a:buNone/>
              <a:defRPr sz="2200" b="1"/>
            </a:lvl9pPr>
          </a:lstStyle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457200" indent="0">
              <a:buNone/>
              <a:defRPr sz="2400" b="1"/>
            </a:lvl2pPr>
            <a:lvl3pPr marL="914400" indent="0">
              <a:buNone/>
              <a:defRPr sz="2200" b="1"/>
            </a:lvl3pPr>
            <a:lvl4pPr marL="1371600" indent="0">
              <a:buNone/>
              <a:defRPr sz="2200" b="1"/>
            </a:lvl4pPr>
            <a:lvl5pPr marL="1828800" indent="0">
              <a:buNone/>
              <a:defRPr sz="2200" b="1"/>
            </a:lvl5pPr>
            <a:lvl6pPr marL="2286000" indent="0">
              <a:buNone/>
              <a:defRPr sz="2200" b="1"/>
            </a:lvl6pPr>
            <a:lvl7pPr marL="2743200" indent="0">
              <a:buNone/>
              <a:defRPr sz="2200" b="1"/>
            </a:lvl7pPr>
            <a:lvl8pPr marL="3200400" indent="0">
              <a:buNone/>
              <a:defRPr sz="2200" b="1"/>
            </a:lvl8pPr>
            <a:lvl9pPr marL="3657600" indent="0">
              <a:buNone/>
              <a:defRPr sz="2200" b="1"/>
            </a:lvl9pPr>
          </a:lstStyle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400" b="1"/>
            </a:lvl1pPr>
          </a:lstStyle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3200"/>
            </a:lvl2pPr>
            <a:lvl3pPr marL="914400" indent="0">
              <a:buNone/>
              <a:defRPr sz="32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1500"/>
            </a:lvl3pPr>
            <a:lvl4pPr marL="1371600" indent="0">
              <a:buNone/>
              <a:defRPr sz="1500"/>
            </a:lvl4pPr>
            <a:lvl5pPr marL="1828800" indent="0">
              <a:buNone/>
              <a:defRPr sz="1500"/>
            </a:lvl5pPr>
            <a:lvl6pPr marL="2286000" indent="0">
              <a:buNone/>
              <a:defRPr sz="1500"/>
            </a:lvl6pPr>
            <a:lvl7pPr marL="2743200" indent="0">
              <a:buNone/>
              <a:defRPr sz="1500"/>
            </a:lvl7pPr>
            <a:lvl8pPr marL="3200400" indent="0">
              <a:buNone/>
              <a:defRPr sz="1500"/>
            </a:lvl8pPr>
            <a:lvl9pPr marL="3657600" indent="0">
              <a:buNone/>
              <a:defRPr sz="1500"/>
            </a:lvl9pPr>
          </a:lstStyle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400" b="1"/>
            </a:lvl1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1500"/>
            </a:lvl3pPr>
            <a:lvl4pPr marL="1371600" indent="0">
              <a:buNone/>
              <a:defRPr sz="1500"/>
            </a:lvl4pPr>
            <a:lvl5pPr marL="1828800" indent="0">
              <a:buNone/>
              <a:defRPr sz="1500"/>
            </a:lvl5pPr>
            <a:lvl6pPr marL="2286000" indent="0">
              <a:buNone/>
              <a:defRPr sz="1500"/>
            </a:lvl6pPr>
            <a:lvl7pPr marL="2743200" indent="0">
              <a:buNone/>
              <a:defRPr sz="1500"/>
            </a:lvl7pPr>
            <a:lvl8pPr marL="3200400" indent="0">
              <a:buNone/>
              <a:defRPr sz="1500"/>
            </a:lvl8pPr>
            <a:lvl9pPr marL="3657600" indent="0">
              <a:buNone/>
              <a:defRPr sz="1500"/>
            </a:lvl9pPr>
          </a:lstStyle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5000" b="1"/>
            </a:lvl1pPr>
          </a:lstStyle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spcBef>
          <a:spcPts val="0"/>
        </a:spcBef>
        <a:buNone/>
        <a:defRPr sz="5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3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4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4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2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1.xml"/><Relationship Id="rId3" Type="http://schemas.openxmlformats.org/officeDocument/2006/relationships/tags" Target="../tags/tag3.xml"/><Relationship Id="rId21" Type="http://schemas.openxmlformats.org/officeDocument/2006/relationships/image" Target="../media/image21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9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20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23.png"/><Relationship Id="rId10" Type="http://schemas.openxmlformats.org/officeDocument/2006/relationships/tags" Target="../tags/tag10.xml"/><Relationship Id="rId19" Type="http://schemas.openxmlformats.org/officeDocument/2006/relationships/image" Target="../media/image16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notesSlide" Target="../notesSlides/notesSlide13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slideLayout" Target="../slideLayouts/slideLayout9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10" Type="http://schemas.openxmlformats.org/officeDocument/2006/relationships/tags" Target="../tags/tag26.xml"/><Relationship Id="rId19" Type="http://schemas.openxmlformats.org/officeDocument/2006/relationships/image" Target="../media/image16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ChatGPT Image 2026年5月19日 10_16_23 (1)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  <p:sp>
        <p:nvSpPr>
          <p:cNvPr id="3" name="TextBox 2"/>
          <p:cNvSpPr>
            <a:spLocks noGrp="1"/>
          </p:cNvSpPr>
          <p:nvPr/>
        </p:nvSpPr>
        <p:spPr>
          <a:xfrm>
            <a:off x="475488" y="868680"/>
            <a:ext cx="3749039" cy="938530"/>
          </a:xfrm>
          <a:prstGeom prst="rect">
            <a:avLst/>
          </a:prstGeom>
          <a:noFill/>
        </p:spPr>
        <p:txBody>
          <a:bodyPr wrap="square" lIns="9144" tIns="7620" rIns="9144" bIns="762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endParaRPr sz="5000" b="1">
              <a:solidFill>
                <a:srgbClr val="B0DBFF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391795" y="382905"/>
            <a:ext cx="3749040" cy="1080770"/>
          </a:xfrm>
          <a:prstGeom prst="rect">
            <a:avLst/>
          </a:prstGeom>
          <a:noFill/>
        </p:spPr>
        <p:txBody>
          <a:bodyPr wrap="square" lIns="9144" tIns="7620" rIns="9144" bIns="762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sz="7200" b="1">
                <a:solidFill>
                  <a:srgbClr val="7E5426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珠宝企培</a:t>
            </a:r>
          </a:p>
          <a:p>
            <a:pPr algn="l">
              <a:lnSpc>
                <a:spcPct val="120000"/>
              </a:lnSpc>
              <a:buNone/>
            </a:pPr>
            <a:r>
              <a:rPr lang="en-US" altLang="zh-CN" sz="6000" b="1">
                <a:solidFill>
                  <a:srgbClr val="7E5426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       </a:t>
            </a:r>
            <a:endParaRPr lang="zh-CN" altLang="en-US" sz="6000" b="1">
              <a:solidFill>
                <a:srgbClr val="7E5426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795909" y="2973959"/>
            <a:ext cx="5577840" cy="387351"/>
          </a:xfrm>
          <a:prstGeom prst="rect">
            <a:avLst/>
          </a:prstGeom>
          <a:noFill/>
        </p:spPr>
        <p:txBody>
          <a:bodyPr wrap="square" lIns="9144" tIns="7620" rIns="9144" bIns="762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面向珠宝门店培训场景的一体化应用</a:t>
            </a:r>
          </a:p>
        </p:txBody>
      </p:sp>
      <p:sp>
        <p:nvSpPr>
          <p:cNvPr id="8" name="Rectangle 7"/>
          <p:cNvSpPr>
            <a:spLocks noGrp="1"/>
          </p:cNvSpPr>
          <p:nvPr/>
        </p:nvSpPr>
        <p:spPr>
          <a:xfrm>
            <a:off x="429768" y="3416808"/>
            <a:ext cx="5742432" cy="27432"/>
          </a:xfrm>
          <a:prstGeom prst="rect">
            <a:avLst/>
          </a:prstGeom>
          <a:solidFill>
            <a:srgbClr val="B78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TextBox 8"/>
          <p:cNvSpPr>
            <a:spLocks noGrp="1"/>
          </p:cNvSpPr>
          <p:nvPr/>
        </p:nvSpPr>
        <p:spPr>
          <a:xfrm>
            <a:off x="795655" y="3493135"/>
            <a:ext cx="5125085" cy="2247265"/>
          </a:xfrm>
          <a:prstGeom prst="rect">
            <a:avLst/>
          </a:prstGeom>
          <a:noFill/>
        </p:spPr>
        <p:txBody>
          <a:bodyPr wrap="square" lIns="9144" tIns="7620" rIns="9144" bIns="762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sz="2400" b="1" dirty="0" err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围绕接待复盘、知识学习、训练反馈、人员预警与结果查询，用真实系统页面说明这套产品如何解决门店培训中的核心问题</a:t>
            </a:r>
            <a:r>
              <a:rPr sz="2400" b="1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。</a:t>
            </a: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692150" y="5577840"/>
            <a:ext cx="807720" cy="347980"/>
          </a:xfrm>
          <a:prstGeom prst="rect">
            <a:avLst/>
          </a:prstGeom>
          <a:noFill/>
        </p:spPr>
        <p:txBody>
          <a:bodyPr wrap="square" lIns="9144" tIns="7620" rIns="9144" bIns="7620" anchor="t">
            <a:noAutofit/>
          </a:bodyPr>
          <a:lstStyle/>
          <a:p>
            <a:pPr algn="ctr">
              <a:lnSpc>
                <a:spcPct val="120000"/>
              </a:lnSpc>
              <a:buNone/>
            </a:pPr>
            <a:endParaRPr sz="2000" b="1" dirty="0">
              <a:solidFill>
                <a:srgbClr val="FFFFFF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8631935" y="6327648"/>
            <a:ext cx="3183075" cy="290830"/>
          </a:xfrm>
          <a:prstGeom prst="rect">
            <a:avLst/>
          </a:prstGeom>
          <a:noFill/>
        </p:spPr>
        <p:txBody>
          <a:bodyPr wrap="square" lIns="9144" tIns="7620" rIns="9144" bIns="7620" anchor="t">
            <a:spAutoFit/>
          </a:bodyPr>
          <a:lstStyle/>
          <a:p>
            <a:pPr algn="r">
              <a:lnSpc>
                <a:spcPct val="120000"/>
              </a:lnSpc>
              <a:buNone/>
            </a:pPr>
            <a:r>
              <a:rPr sz="1500" b="1" dirty="0">
                <a:solidFill>
                  <a:srgbClr val="7E5426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2026 </a:t>
            </a:r>
            <a:r>
              <a:rPr sz="1500" b="1" dirty="0" err="1">
                <a:solidFill>
                  <a:srgbClr val="7E5426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广东省大学生计算机设计大赛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9100" y="1479550"/>
            <a:ext cx="4962525" cy="3355975"/>
          </a:xfrm>
          <a:prstGeom prst="roundRect">
            <a:avLst/>
          </a:prstGeom>
          <a:ln w="19050">
            <a:solidFill>
              <a:srgbClr val="B789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</p:pic>
      <p:pic>
        <p:nvPicPr>
          <p:cNvPr id="14" name="图片 13" descr="11_tab_time_ja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380" y="5754370"/>
            <a:ext cx="1246505" cy="641350"/>
          </a:xfrm>
          <a:prstGeom prst="rect">
            <a:avLst/>
          </a:prstGeom>
        </p:spPr>
      </p:pic>
      <p:pic>
        <p:nvPicPr>
          <p:cNvPr id="16" name="图片 15" descr="12_tab_year_ivor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730" y="5753735"/>
            <a:ext cx="1345565" cy="637540"/>
          </a:xfrm>
          <a:prstGeom prst="rect">
            <a:avLst/>
          </a:prstGeom>
        </p:spPr>
      </p:pic>
      <p:pic>
        <p:nvPicPr>
          <p:cNvPr id="17" name="图片 16" descr="10_tab_project_name_ivor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2130" y="5754370"/>
            <a:ext cx="2338705" cy="637540"/>
          </a:xfrm>
          <a:prstGeom prst="rect">
            <a:avLst/>
          </a:prstGeom>
        </p:spPr>
      </p:pic>
      <p:pic>
        <p:nvPicPr>
          <p:cNvPr id="18" name="图片 17" descr="09_tab_project_gold"/>
          <p:cNvPicPr/>
          <p:nvPr/>
        </p:nvPicPr>
        <p:blipFill>
          <a:blip r:embed="rId8"/>
          <a:stretch>
            <a:fillRect/>
          </a:stretch>
        </p:blipFill>
        <p:spPr>
          <a:xfrm>
            <a:off x="795655" y="5810885"/>
            <a:ext cx="1090295" cy="577215"/>
          </a:xfrm>
          <a:prstGeom prst="rect">
            <a:avLst/>
          </a:prstGeom>
        </p:spPr>
      </p:pic>
      <p:pic>
        <p:nvPicPr>
          <p:cNvPr id="36" name="图片 35" descr="05_admin_view_label_transparen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5025390"/>
            <a:ext cx="1701165" cy="45339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125095" y="74295"/>
            <a:ext cx="31826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</a:rPr>
              <a:t>20269211197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2337435" y="1694815"/>
            <a:ext cx="44316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>
                <a:solidFill>
                  <a:srgbClr val="7E5426"/>
                </a:solidFill>
                <a:latin typeface="宋体" pitchFamily="2" charset="-122"/>
                <a:ea typeface="宋体" pitchFamily="2" charset="-122"/>
              </a:rPr>
              <a:t>数智管家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6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8" grpId="0" animBg="1"/>
      <p:bldP spid="8" grpId="1" animBg="1"/>
      <p:bldP spid="9" grpId="0"/>
      <p:bldP spid="9" grpId="1"/>
      <p:bldP spid="44" grpId="0"/>
      <p:bldP spid="4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5月19日 10_16_23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407035" y="530860"/>
            <a:ext cx="9198610" cy="6235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 dirty="0" err="1">
                <a:solidFill>
                  <a:srgbClr val="1E5349"/>
                </a:solidFill>
                <a:effectLst/>
                <a:latin typeface="宋体" pitchFamily="2" charset="-122"/>
                <a:ea typeface="宋体" pitchFamily="2" charset="-122"/>
                <a:cs typeface="宋体" pitchFamily="2" charset="-122"/>
              </a:rPr>
              <a:t>围绕 5 个核心问题</a:t>
            </a:r>
            <a:r>
              <a:rPr lang="en-US" altLang="zh-CN" sz="3200" b="1" dirty="0" err="1">
                <a:solidFill>
                  <a:srgbClr val="1E5349"/>
                </a:solidFill>
                <a:effectLst/>
                <a:latin typeface="宋体" pitchFamily="2" charset="-122"/>
                <a:ea typeface="宋体" pitchFamily="2" charset="-122"/>
                <a:cs typeface="宋体" pitchFamily="2" charset="-122"/>
              </a:rPr>
              <a:t> </a:t>
            </a:r>
            <a:r>
              <a:rPr lang="zh-CN" altLang="en-US" sz="3200" b="1" dirty="0" err="1">
                <a:solidFill>
                  <a:srgbClr val="1E5349"/>
                </a:solidFill>
                <a:effectLst/>
                <a:latin typeface="宋体" pitchFamily="2" charset="-122"/>
                <a:ea typeface="宋体" pitchFamily="2" charset="-122"/>
                <a:cs typeface="宋体" pitchFamily="2" charset="-122"/>
              </a:rPr>
              <a:t>系统给出对应解法</a:t>
            </a:r>
          </a:p>
          <a:p>
            <a:pPr algn="l">
              <a:lnSpc>
                <a:spcPct val="120000"/>
              </a:lnSpc>
              <a:buNone/>
            </a:pPr>
            <a:endParaRPr lang="zh-CN" altLang="en-US" sz="1600" b="1" dirty="0" err="1">
              <a:solidFill>
                <a:srgbClr val="7E5426"/>
              </a:solidFill>
              <a:effectLst/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58368" y="1956816"/>
            <a:ext cx="3383280" cy="2097532"/>
          </a:xfrm>
          <a:prstGeom prst="roundRect">
            <a:avLst/>
          </a:prstGeom>
          <a:gradFill>
            <a:gsLst>
              <a:gs pos="0">
                <a:srgbClr val="ADE1F9"/>
              </a:gs>
              <a:gs pos="100000">
                <a:srgbClr val="FFF2EC"/>
              </a:gs>
            </a:gsLst>
            <a:lin ang="17400000" scaled="0"/>
          </a:gradFill>
          <a:ln w="15240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Rounded Rectangle 11"/>
          <p:cNvSpPr>
            <a:spLocks noGrp="1"/>
          </p:cNvSpPr>
          <p:nvPr/>
        </p:nvSpPr>
        <p:spPr>
          <a:xfrm>
            <a:off x="1009904" y="2057146"/>
            <a:ext cx="2579624" cy="521462"/>
          </a:xfrm>
          <a:prstGeom prst="roundRect">
            <a:avLst/>
          </a:prstGeom>
          <a:solidFill>
            <a:srgbClr val="EEF4FF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1196340" y="2122599"/>
            <a:ext cx="1921256" cy="384175"/>
          </a:xfrm>
          <a:prstGeom prst="rect">
            <a:avLst/>
          </a:prstGeom>
          <a:noFill/>
        </p:spPr>
        <p:txBody>
          <a:bodyPr wrap="square" lIns="9144" tIns="7620" rIns="9144" bIns="7620" anchor="ctr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2000" b="1" dirty="0" err="1">
                <a:solidFill>
                  <a:srgbClr val="4CA2FF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接待后不会复盘</a:t>
            </a:r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659130" y="2628265"/>
            <a:ext cx="3382645" cy="1381760"/>
          </a:xfrm>
          <a:prstGeom prst="rect">
            <a:avLst/>
          </a:prstGeom>
          <a:noFill/>
        </p:spPr>
        <p:txBody>
          <a:bodyPr wrap="square" lIns="73152" tIns="60960" rIns="73152" bIns="60960" anchor="t">
            <a:noAutofit/>
          </a:bodyPr>
          <a:lstStyle/>
          <a:p>
            <a:pPr>
              <a:lnSpc>
                <a:spcPct val="132000"/>
              </a:lnSpc>
              <a:buNone/>
            </a:pPr>
            <a:r>
              <a:rPr lang="en-US" altLang="zh-CN" sz="180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         </a:t>
            </a:r>
            <a:r>
              <a:rPr lang="zh-CN" altLang="en-US" sz="2000" dirty="0">
                <a:solidFill>
                  <a:srgbClr val="536E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ngti SC" panose="02010800040101010101" charset="-122"/>
                <a:ea typeface="宋体-简" panose="02010800040101010101"/>
                <a:cs typeface="宋体-简" panose="02010800040101010101" charset="-122"/>
              </a:rPr>
              <a:t>在岗助手</a:t>
            </a:r>
            <a:r>
              <a:rPr lang="zh-CN" altLang="en-US" sz="200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/>
                <a:cs typeface="宋体-简" panose="02010800040101010101" charset="-122"/>
              </a:rPr>
              <a:t>：</a:t>
            </a:r>
          </a:p>
          <a:p>
            <a:pPr algn="ctr">
              <a:lnSpc>
                <a:spcPct val="132000"/>
              </a:lnSpc>
              <a:buNone/>
            </a:pPr>
            <a:r>
              <a:rPr lang="zh-CN" altLang="en-US" sz="2000" dirty="0" err="1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复盘沟通要点，</a:t>
            </a:r>
          </a:p>
          <a:p>
            <a:pPr algn="ctr">
              <a:lnSpc>
                <a:spcPct val="132000"/>
              </a:lnSpc>
              <a:buNone/>
            </a:pPr>
            <a:r>
              <a:rPr lang="zh-CN" altLang="en-US" sz="2000" dirty="0" err="1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给出下次话术</a:t>
            </a:r>
            <a:r>
              <a:rPr lang="zh-CN" sz="2000" dirty="0" err="1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。</a:t>
            </a:r>
            <a:endParaRPr sz="2000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  <a:p>
            <a:pPr algn="l">
              <a:lnSpc>
                <a:spcPct val="132000"/>
              </a:lnSpc>
              <a:buNone/>
            </a:pPr>
            <a:endParaRPr sz="2000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8156448" y="1956816"/>
            <a:ext cx="3383280" cy="2097532"/>
          </a:xfrm>
          <a:prstGeom prst="roundRect">
            <a:avLst/>
          </a:prstGeom>
          <a:gradFill>
            <a:gsLst>
              <a:gs pos="0">
                <a:srgbClr val="ADE1F9"/>
              </a:gs>
              <a:gs pos="100000">
                <a:srgbClr val="FFF2EC"/>
              </a:gs>
            </a:gsLst>
            <a:lin ang="17400000" scaled="0"/>
          </a:gra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zh-CN" altLang="en-US" b="1" dirty="0" err="1">
              <a:solidFill>
                <a:srgbClr val="7E5426"/>
              </a:solidFill>
              <a:effectLst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8432800" y="2096135"/>
            <a:ext cx="2310765" cy="427355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8382635" y="2096135"/>
            <a:ext cx="2395220" cy="384175"/>
          </a:xfrm>
          <a:prstGeom prst="rect">
            <a:avLst/>
          </a:prstGeom>
          <a:noFill/>
        </p:spPr>
        <p:txBody>
          <a:bodyPr wrap="square" lIns="9144" tIns="7620" rIns="9144" bIns="7620" anchor="ctr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2000" b="1" dirty="0" err="1">
                <a:solidFill>
                  <a:srgbClr val="EF4444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训练留不下结果</a:t>
            </a:r>
            <a:endParaRPr sz="2000" b="1" dirty="0">
              <a:solidFill>
                <a:srgbClr val="EF4444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8383651" y="2643068"/>
            <a:ext cx="2926080" cy="1283621"/>
          </a:xfrm>
          <a:prstGeom prst="rect">
            <a:avLst/>
          </a:prstGeom>
          <a:noFill/>
        </p:spPr>
        <p:txBody>
          <a:bodyPr wrap="square" lIns="73152" tIns="60960" rIns="73152" bIns="60960" anchor="t">
            <a:spAutoFit/>
          </a:bodyPr>
          <a:lstStyle/>
          <a:p>
            <a:pPr algn="ctr">
              <a:lnSpc>
                <a:spcPct val="132000"/>
              </a:lnSpc>
              <a:buNone/>
            </a:pPr>
            <a:r>
              <a:rPr lang="zh-CN" altLang="en-US" sz="2000" dirty="0">
                <a:solidFill>
                  <a:srgbClr val="536E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智能陪练</a:t>
            </a:r>
            <a:r>
              <a:rPr lang="zh-CN" altLang="en-US" sz="200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：</a:t>
            </a:r>
          </a:p>
          <a:p>
            <a:pPr algn="ctr">
              <a:lnSpc>
                <a:spcPct val="132000"/>
              </a:lnSpc>
              <a:buNone/>
            </a:pPr>
            <a:r>
              <a:rPr lang="zh-CN" altLang="en-US" sz="20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多轮场景训练，</a:t>
            </a:r>
          </a:p>
          <a:p>
            <a:pPr algn="ctr">
              <a:lnSpc>
                <a:spcPct val="132000"/>
              </a:lnSpc>
              <a:buNone/>
            </a:pPr>
            <a:r>
              <a:rPr lang="zh-CN" altLang="en-US" sz="20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沉淀评分反馈</a:t>
            </a: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2560320" y="4151376"/>
            <a:ext cx="3383280" cy="2097532"/>
          </a:xfrm>
          <a:prstGeom prst="roundRect">
            <a:avLst/>
          </a:prstGeom>
          <a:gradFill>
            <a:gsLst>
              <a:gs pos="0">
                <a:srgbClr val="ADE1F9"/>
              </a:gs>
              <a:gs pos="100000">
                <a:srgbClr val="FFF2EC"/>
              </a:gs>
            </a:gsLst>
            <a:lin ang="17400000" scaled="0"/>
          </a:gra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Rounded Rectangle 29"/>
          <p:cNvSpPr>
            <a:spLocks noGrp="1"/>
          </p:cNvSpPr>
          <p:nvPr/>
        </p:nvSpPr>
        <p:spPr>
          <a:xfrm>
            <a:off x="2802636" y="4275555"/>
            <a:ext cx="2898648" cy="427228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Rounded Rectangle 21"/>
          <p:cNvSpPr>
            <a:spLocks noGrp="1"/>
          </p:cNvSpPr>
          <p:nvPr/>
        </p:nvSpPr>
        <p:spPr>
          <a:xfrm>
            <a:off x="4482973" y="1962531"/>
            <a:ext cx="3383280" cy="2097532"/>
          </a:xfrm>
          <a:prstGeom prst="roundRect">
            <a:avLst/>
          </a:prstGeom>
          <a:gradFill>
            <a:gsLst>
              <a:gs pos="0">
                <a:srgbClr val="ADE1F9"/>
              </a:gs>
              <a:gs pos="100000">
                <a:srgbClr val="FFF2EC"/>
              </a:gs>
            </a:gsLst>
            <a:lin ang="17400000" scaled="0"/>
          </a:gra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zh-CN" altLang="en-US" b="1" dirty="0" err="1">
              <a:solidFill>
                <a:srgbClr val="7E5426"/>
              </a:solidFill>
              <a:effectLst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2852928" y="4292229"/>
            <a:ext cx="2798064" cy="384175"/>
          </a:xfrm>
          <a:prstGeom prst="rect">
            <a:avLst/>
          </a:prstGeom>
          <a:noFill/>
        </p:spPr>
        <p:txBody>
          <a:bodyPr wrap="square" lIns="9144" tIns="7620" rIns="9144" bIns="7620" anchor="ctr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2000" b="1" dirty="0">
                <a:solidFill>
                  <a:srgbClr val="16A34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不知道先辅导谁</a:t>
            </a:r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2761488" y="4801976"/>
            <a:ext cx="2926080" cy="1339215"/>
          </a:xfrm>
          <a:prstGeom prst="rect">
            <a:avLst/>
          </a:prstGeom>
          <a:noFill/>
        </p:spPr>
        <p:txBody>
          <a:bodyPr wrap="square" lIns="73152" tIns="60960" rIns="73152" bIns="60960" anchor="t">
            <a:spAutoFit/>
          </a:bodyPr>
          <a:lstStyle/>
          <a:p>
            <a:pPr algn="ctr">
              <a:lnSpc>
                <a:spcPct val="132000"/>
              </a:lnSpc>
              <a:buNone/>
            </a:pPr>
            <a:r>
              <a:rPr lang="zh-CN" altLang="en-US" sz="2000" b="0" dirty="0" err="1">
                <a:solidFill>
                  <a:srgbClr val="536E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风险看板</a:t>
            </a:r>
            <a:r>
              <a:rPr lang="zh-CN" altLang="en-US" sz="2000" b="0" dirty="0" err="1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：</a:t>
            </a:r>
          </a:p>
          <a:p>
            <a:pPr algn="ctr">
              <a:lnSpc>
                <a:spcPct val="132000"/>
              </a:lnSpc>
              <a:buNone/>
            </a:pPr>
            <a:r>
              <a:rPr lang="zh-CN" altLang="en-US" sz="2000" b="0" dirty="0" err="1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识别薄弱员工</a:t>
            </a:r>
          </a:p>
          <a:p>
            <a:pPr algn="ctr">
              <a:lnSpc>
                <a:spcPct val="132000"/>
              </a:lnSpc>
              <a:buNone/>
            </a:pPr>
            <a:r>
              <a:rPr lang="zh-CN" altLang="en-US" sz="2000" b="0" dirty="0" err="1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与风险维度</a:t>
            </a: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6309360" y="4151630"/>
            <a:ext cx="3510915" cy="2122170"/>
          </a:xfrm>
          <a:prstGeom prst="roundRect">
            <a:avLst/>
          </a:prstGeom>
          <a:gradFill>
            <a:gsLst>
              <a:gs pos="0">
                <a:srgbClr val="ADE1F9"/>
              </a:gs>
              <a:gs pos="100000">
                <a:srgbClr val="FFF2EC"/>
              </a:gs>
            </a:gsLst>
            <a:lin ang="17400000" scaled="0"/>
          </a:gra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6542024" y="4356093"/>
            <a:ext cx="2496312" cy="394088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6642481" y="4332161"/>
            <a:ext cx="2395728" cy="384175"/>
          </a:xfrm>
          <a:prstGeom prst="rect">
            <a:avLst/>
          </a:prstGeom>
          <a:noFill/>
        </p:spPr>
        <p:txBody>
          <a:bodyPr wrap="square" lIns="9144" tIns="7620" rIns="9144" bIns="7620" anchor="ctr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2000" b="1" dirty="0" err="1">
                <a:solidFill>
                  <a:srgbClr val="7C3AED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查结果还得等报表</a:t>
            </a:r>
            <a:endParaRPr sz="2000" b="1" dirty="0">
              <a:solidFill>
                <a:srgbClr val="7C3AED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9" name="TextBox 38"/>
          <p:cNvSpPr>
            <a:spLocks noGrp="1"/>
          </p:cNvSpPr>
          <p:nvPr/>
        </p:nvSpPr>
        <p:spPr>
          <a:xfrm>
            <a:off x="6452944" y="4775454"/>
            <a:ext cx="2926080" cy="1339215"/>
          </a:xfrm>
          <a:prstGeom prst="rect">
            <a:avLst/>
          </a:prstGeom>
          <a:noFill/>
        </p:spPr>
        <p:txBody>
          <a:bodyPr wrap="square" lIns="73152" tIns="60960" rIns="73152" bIns="60960" anchor="t">
            <a:spAutoFit/>
          </a:bodyPr>
          <a:lstStyle/>
          <a:p>
            <a:pPr algn="ctr">
              <a:lnSpc>
                <a:spcPct val="132000"/>
              </a:lnSpc>
              <a:buNone/>
            </a:pPr>
            <a:r>
              <a:rPr lang="zh-CN" altLang="en-US" sz="2000" b="0" dirty="0">
                <a:solidFill>
                  <a:srgbClr val="536E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一句话查询</a:t>
            </a:r>
            <a:r>
              <a:rPr lang="zh-CN" altLang="en-US" sz="20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：</a:t>
            </a:r>
          </a:p>
          <a:p>
            <a:pPr algn="ctr">
              <a:lnSpc>
                <a:spcPct val="132000"/>
              </a:lnSpc>
              <a:buNone/>
            </a:pPr>
            <a:r>
              <a:rPr lang="zh-CN" altLang="en-US" sz="20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自然语言查询</a:t>
            </a:r>
          </a:p>
          <a:p>
            <a:pPr algn="ctr">
              <a:lnSpc>
                <a:spcPct val="132000"/>
              </a:lnSpc>
              <a:buNone/>
            </a:pPr>
            <a:r>
              <a:rPr lang="zh-CN" altLang="en-US" sz="20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训练结果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7035" y="170180"/>
            <a:ext cx="2798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418965" y="1154430"/>
            <a:ext cx="7638415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i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--</a:t>
            </a:r>
            <a:r>
              <a:rPr lang="zh-CN" altLang="en-US" sz="2000" i="0">
                <a:solidFill>
                  <a:schemeClr val="tx1"/>
                </a:solidFill>
                <a:latin typeface="宋体" pitchFamily="2" charset="-122"/>
                <a:ea typeface="宋体" pitchFamily="2" charset="-122"/>
              </a:rPr>
              <a:t>不是单点功能展示，而是按“问题—入口—结果”形成完整闭环</a:t>
            </a: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4608576" y="2608778"/>
            <a:ext cx="2926080" cy="1339215"/>
          </a:xfrm>
          <a:prstGeom prst="rect">
            <a:avLst/>
          </a:prstGeom>
          <a:noFill/>
        </p:spPr>
        <p:txBody>
          <a:bodyPr wrap="square" lIns="73152" tIns="60960" rIns="73152" bIns="60960" anchor="t">
            <a:spAutoFit/>
          </a:bodyPr>
          <a:lstStyle/>
          <a:p>
            <a:pPr algn="ctr">
              <a:lnSpc>
                <a:spcPct val="132000"/>
              </a:lnSpc>
              <a:buNone/>
            </a:pPr>
            <a:r>
              <a:rPr lang="zh-CN" altLang="en-US" sz="2000" b="0" dirty="0">
                <a:solidFill>
                  <a:srgbClr val="536E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知识问答：</a:t>
            </a:r>
            <a:endParaRPr lang="zh-CN" altLang="en-US" sz="2000" b="0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  <a:p>
            <a:pPr algn="ctr">
              <a:lnSpc>
                <a:spcPct val="132000"/>
              </a:lnSpc>
              <a:buNone/>
            </a:pPr>
            <a:r>
              <a:rPr lang="zh-CN" altLang="en-US" sz="20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统一产品知识</a:t>
            </a:r>
          </a:p>
          <a:p>
            <a:pPr algn="ctr">
              <a:lnSpc>
                <a:spcPct val="132000"/>
              </a:lnSpc>
              <a:buNone/>
            </a:pPr>
            <a:r>
              <a:rPr lang="zh-CN" altLang="en-US" sz="20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与标准表达</a:t>
            </a: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4700905" y="2096135"/>
            <a:ext cx="2122805" cy="427355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4775200" y="2122805"/>
            <a:ext cx="1867535" cy="384175"/>
          </a:xfrm>
          <a:prstGeom prst="rect">
            <a:avLst/>
          </a:prstGeom>
          <a:noFill/>
        </p:spPr>
        <p:txBody>
          <a:bodyPr wrap="square" lIns="9144" tIns="7620" rIns="9144" bIns="7620" anchor="ctr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2000" b="1" dirty="0" err="1">
                <a:solidFill>
                  <a:srgbClr val="F59E0B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标准讲不明白</a:t>
            </a:r>
          </a:p>
        </p:txBody>
      </p:sp>
      <p:sp>
        <p:nvSpPr>
          <p:cNvPr id="3" name="Rectangle 5"/>
          <p:cNvSpPr>
            <a:spLocks noGrp="1"/>
          </p:cNvSpPr>
          <p:nvPr/>
        </p:nvSpPr>
        <p:spPr>
          <a:xfrm>
            <a:off x="407035" y="1118108"/>
            <a:ext cx="665640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0" grpId="0" animBg="1"/>
      <p:bldP spid="10" grpId="1" animBg="1"/>
      <p:bldP spid="12" grpId="0" animBg="1"/>
      <p:bldP spid="12" grpId="1" animBg="1"/>
      <p:bldP spid="13" grpId="0"/>
      <p:bldP spid="13" grpId="1"/>
      <p:bldP spid="15" grpId="0"/>
      <p:bldP spid="15" grpId="1"/>
      <p:bldP spid="22" grpId="0" animBg="1"/>
      <p:bldP spid="22" grpId="1" animBg="1"/>
      <p:bldP spid="24" grpId="0" animBg="1"/>
      <p:bldP spid="25" grpId="1"/>
      <p:bldP spid="25" grpId="2"/>
      <p:bldP spid="27" grpId="0"/>
      <p:bldP spid="27" grpId="1"/>
      <p:bldP spid="28" grpId="0" animBg="1"/>
      <p:bldP spid="28" grpId="1" animBg="1"/>
      <p:bldP spid="30" grpId="0" animBg="1"/>
      <p:bldP spid="20" grpId="0" animBg="1"/>
      <p:bldP spid="20" grpId="1" animBg="1"/>
      <p:bldP spid="31" grpId="1"/>
      <p:bldP spid="31" grpId="2"/>
      <p:bldP spid="33" grpId="0"/>
      <p:bldP spid="33" grpId="1"/>
      <p:bldP spid="34" grpId="0" animBg="1"/>
      <p:bldP spid="34" grpId="1" animBg="1"/>
      <p:bldP spid="36" grpId="0" animBg="1"/>
      <p:bldP spid="37" grpId="1"/>
      <p:bldP spid="37" grpId="2"/>
      <p:bldP spid="39" grpId="0"/>
      <p:bldP spid="39" grpId="1"/>
      <p:bldP spid="8" grpId="0"/>
      <p:bldP spid="8" grpId="1"/>
      <p:bldP spid="21" grpId="0"/>
      <p:bldP spid="21" grpId="1"/>
      <p:bldP spid="18" grpId="0" animBg="1"/>
      <p:bldP spid="19" grpId="1"/>
      <p:bldP spid="19" grpId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5月19日 10_16_23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21792" y="749808"/>
            <a:ext cx="8321040" cy="6362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1.</a:t>
            </a:r>
            <a:r>
              <a:rPr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接待后不会复盘</a:t>
            </a:r>
            <a:r>
              <a:rPr 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 —— </a:t>
            </a:r>
            <a:r>
              <a:rPr lang="zh-CN" alt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在岗助手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98195" y="1365123"/>
            <a:ext cx="557784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21538" y="2034540"/>
            <a:ext cx="2889504" cy="44074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96112" y="2194560"/>
            <a:ext cx="23591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EF4444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这个问题是什么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798195" y="2630805"/>
            <a:ext cx="2651125" cy="15494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接待结束后，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员工往往知道“没讲好”，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却说不清问题出在哪，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也不知道下一次该怎么说。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923544" y="4179978"/>
            <a:ext cx="23591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00" b="1" dirty="0" err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系统怎么解</a:t>
            </a:r>
            <a:endParaRPr sz="2000" b="1" dirty="0">
              <a:solidFill>
                <a:srgbClr val="2169E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798195" y="4669155"/>
            <a:ext cx="2790825" cy="15367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系统基于接待记录，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识别顾客意图、表达卡点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和合规风险，生成下一句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可直接使用的话术。</a:t>
            </a:r>
          </a:p>
        </p:txBody>
      </p:sp>
      <p:sp>
        <p:nvSpPr>
          <p:cNvPr id="20" name="Connector 19"/>
          <p:cNvSpPr>
            <a:spLocks noGrp="1"/>
          </p:cNvSpPr>
          <p:nvPr/>
        </p:nvSpPr>
        <p:spPr>
          <a:xfrm flipV="1">
            <a:off x="0" y="0"/>
            <a:ext cx="0" cy="0"/>
          </a:xfrm>
          <a:prstGeom prst="line">
            <a:avLst/>
          </a:prstGeom>
          <a:ln w="25400">
            <a:solidFill>
              <a:srgbClr val="AB7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3" name="TextBox 22"/>
          <p:cNvSpPr>
            <a:spLocks noGrp="1"/>
          </p:cNvSpPr>
          <p:nvPr/>
        </p:nvSpPr>
        <p:spPr>
          <a:xfrm>
            <a:off x="8577072" y="5669280"/>
            <a:ext cx="1810512" cy="3676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endParaRPr sz="1800" b="1">
              <a:solidFill>
                <a:srgbClr val="9A6700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7035" y="170180"/>
            <a:ext cx="27984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726180" y="1392555"/>
            <a:ext cx="8320405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>
                <a:latin typeface="宋体" pitchFamily="2" charset="-122"/>
                <a:ea typeface="宋体" pitchFamily="2" charset="-122"/>
              </a:rPr>
              <a:t>--</a:t>
            </a:r>
            <a:r>
              <a:rPr lang="zh-CN" altLang="en-US" sz="2000">
                <a:latin typeface="宋体" pitchFamily="2" charset="-122"/>
                <a:ea typeface="宋体" pitchFamily="2" charset="-122"/>
              </a:rPr>
              <a:t>识别顾客意图、销售卡点与合规风险，生成下一句可直接使用的话术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5750" y="1937385"/>
            <a:ext cx="7580630" cy="4504690"/>
          </a:xfrm>
          <a:prstGeom prst="roundRect">
            <a:avLst/>
          </a:prstGeom>
          <a:ln w="19050">
            <a:solidFill>
              <a:srgbClr val="B78948"/>
            </a:solidFill>
          </a:ln>
          <a:effectLst/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/>
          <a:srcRect l="26817" t="36428" r="48491" b="22454"/>
          <a:stretch>
            <a:fillRect/>
          </a:stretch>
        </p:blipFill>
        <p:spPr>
          <a:xfrm>
            <a:off x="8042910" y="3622675"/>
            <a:ext cx="2193290" cy="2136775"/>
          </a:xfrm>
          <a:prstGeom prst="ellipse">
            <a:avLst/>
          </a:prstGeom>
          <a:ln w="28575">
            <a:solidFill>
              <a:srgbClr val="EEF4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30" name="Rounded Rectangle 21"/>
          <p:cNvSpPr>
            <a:spLocks noGrp="1"/>
          </p:cNvSpPr>
          <p:nvPr/>
        </p:nvSpPr>
        <p:spPr>
          <a:xfrm>
            <a:off x="9515475" y="5656580"/>
            <a:ext cx="1302385" cy="380365"/>
          </a:xfrm>
          <a:prstGeom prst="roundRect">
            <a:avLst/>
          </a:prstGeom>
          <a:solidFill>
            <a:srgbClr val="FFF4D6"/>
          </a:solidFill>
          <a:ln>
            <a:solidFill>
              <a:srgbClr val="B78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lang="zh-CN" b="1" i="1">
                <a:solidFill>
                  <a:srgbClr val="7E5426"/>
                </a:solidFill>
              </a:rPr>
              <a:t>优化话术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6271895" y="4335145"/>
            <a:ext cx="1726565" cy="900430"/>
          </a:xfrm>
          <a:prstGeom prst="roundRect">
            <a:avLst/>
          </a:prstGeom>
          <a:ln>
            <a:solidFill>
              <a:srgbClr val="1E5349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  <p:bldP spid="11" grpId="0"/>
      <p:bldP spid="12" grpId="0"/>
      <p:bldP spid="13" grpId="0"/>
      <p:bldP spid="14" grpId="0"/>
      <p:bldP spid="9" grpId="0"/>
      <p:bldP spid="30" grpId="1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5月19日 10_16_23 (2)"/>
          <p:cNvPicPr/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21792" y="749808"/>
            <a:ext cx="8321040" cy="6362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2.</a:t>
            </a:r>
            <a:r>
              <a:rPr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培训标准难落实</a:t>
            </a:r>
            <a:r>
              <a:rPr lang="zh-CN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——</a:t>
            </a:r>
            <a:r>
              <a:rPr lang="zh-CN" alt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知识问答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748030" y="1358773"/>
            <a:ext cx="557784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7E5426"/>
              </a:solidFill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2152015" y="1358900"/>
            <a:ext cx="10039985" cy="41465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--</a:t>
            </a:r>
            <a:r>
              <a:rPr lang="zh-CN" altLang="en-US" sz="2000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统一知识口径，支持围绕同一问题继续追问，让员工把总部标准真正听懂、讲清、用上</a:t>
            </a:r>
            <a:endParaRPr lang="zh-CN" altLang="en-US" b="1" dirty="0">
              <a:solidFill>
                <a:srgbClr val="7E5426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58368" y="1920239"/>
            <a:ext cx="2933394" cy="467306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96112" y="2024671"/>
            <a:ext cx="23591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00" b="1" dirty="0" err="1">
                <a:solidFill>
                  <a:srgbClr val="EF4444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这个问题是什么</a:t>
            </a:r>
            <a:endParaRPr sz="2000" b="1" dirty="0">
              <a:solidFill>
                <a:srgbClr val="EF4444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748030" y="2435860"/>
            <a:ext cx="2844165" cy="1605915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总部标准到了门店，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员工常常“知道一点”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却讲不完整、讲不统一</a:t>
            </a:r>
            <a:r>
              <a:rPr lang="en-US" altLang="zh-CN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  </a:t>
            </a: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培训结果也难落到接待中。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896112" y="4030153"/>
            <a:ext cx="23591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00" b="1" dirty="0" err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系统怎么解</a:t>
            </a:r>
            <a:endParaRPr sz="2000" b="1" dirty="0">
              <a:solidFill>
                <a:srgbClr val="2169E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748030" y="4441825"/>
            <a:ext cx="2933065" cy="18059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知识问答</a:t>
            </a:r>
            <a:r>
              <a:rPr lang="zh-CN" altLang="en-US" b="1" dirty="0">
                <a:solidFill>
                  <a:srgbClr val="1E5349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统一</a:t>
            </a: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知识口径，支持围绕同一问题继续追问，</a:t>
            </a:r>
          </a:p>
          <a:p>
            <a:pPr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帮助员工把总部标准</a:t>
            </a:r>
          </a:p>
          <a:p>
            <a:pPr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听得懂、讲得清、用得上。</a:t>
            </a:r>
          </a:p>
        </p:txBody>
      </p:sp>
      <p:sp>
        <p:nvSpPr>
          <p:cNvPr id="20" name="Connector 19"/>
          <p:cNvSpPr>
            <a:spLocks noGrp="1"/>
          </p:cNvSpPr>
          <p:nvPr/>
        </p:nv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AB7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6" name="文本框 25"/>
          <p:cNvSpPr txBox="1"/>
          <p:nvPr/>
        </p:nvSpPr>
        <p:spPr>
          <a:xfrm>
            <a:off x="229870" y="187960"/>
            <a:ext cx="27578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  <p:pic>
        <p:nvPicPr>
          <p:cNvPr id="27" name="图片 26"/>
          <p:cNvPicPr/>
          <p:nvPr/>
        </p:nvPicPr>
        <p:blipFill>
          <a:blip r:embed="rId4"/>
          <a:stretch>
            <a:fillRect/>
          </a:stretch>
        </p:blipFill>
        <p:spPr>
          <a:xfrm>
            <a:off x="4297680" y="1920240"/>
            <a:ext cx="7581600" cy="4503600"/>
          </a:xfrm>
          <a:prstGeom prst="roundRect">
            <a:avLst/>
          </a:prstGeom>
          <a:ln w="19050">
            <a:solidFill>
              <a:srgbClr val="B78948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19" name="Rounded Rectangle 18"/>
          <p:cNvSpPr>
            <a:spLocks noGrp="1"/>
          </p:cNvSpPr>
          <p:nvPr/>
        </p:nvSpPr>
        <p:spPr>
          <a:xfrm>
            <a:off x="6450330" y="3903980"/>
            <a:ext cx="1567180" cy="1642110"/>
          </a:xfrm>
          <a:prstGeom prst="roundRect">
            <a:avLst/>
          </a:prstGeom>
          <a:noFill/>
          <a:ln w="33020">
            <a:solidFill>
              <a:srgbClr val="1E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8" name="图片 27"/>
          <p:cNvPicPr/>
          <p:nvPr/>
        </p:nvPicPr>
        <p:blipFill>
          <a:blip r:embed="rId4"/>
          <a:srcRect l="29407" t="34659" r="40816" b="12446"/>
          <a:stretch>
            <a:fillRect/>
          </a:stretch>
        </p:blipFill>
        <p:spPr>
          <a:xfrm>
            <a:off x="7903845" y="3511550"/>
            <a:ext cx="2359025" cy="2261235"/>
          </a:xfrm>
          <a:prstGeom prst="ellipse">
            <a:avLst/>
          </a:prstGeom>
          <a:ln w="19050">
            <a:solidFill>
              <a:srgbClr val="EEF4FF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2" name="Rounded Rectangle 21"/>
          <p:cNvSpPr>
            <a:spLocks noGrp="1"/>
          </p:cNvSpPr>
          <p:nvPr/>
        </p:nvSpPr>
        <p:spPr>
          <a:xfrm>
            <a:off x="8942705" y="5880227"/>
            <a:ext cx="1920240" cy="438912"/>
          </a:xfrm>
          <a:prstGeom prst="roundRect">
            <a:avLst/>
          </a:prstGeom>
          <a:solidFill>
            <a:srgbClr val="FFF4D6"/>
          </a:solidFill>
          <a:ln>
            <a:solidFill>
              <a:srgbClr val="7E5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8942832" y="5880100"/>
            <a:ext cx="1810512" cy="3676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i="1">
                <a:solidFill>
                  <a:srgbClr val="7E5426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继续追问也清楚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animBg="1"/>
      <p:bldP spid="11" grpId="0"/>
      <p:bldP spid="12" grpId="0"/>
      <p:bldP spid="13" grpId="0"/>
      <p:bldP spid="14" grpId="0"/>
      <p:bldP spid="19" grpId="0" animBg="1"/>
      <p:bldP spid="22" grpId="0" bldLvl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5月19日 10_16_23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  <p:sp>
        <p:nvSpPr>
          <p:cNvPr id="4" name="TextBox 3"/>
          <p:cNvSpPr>
            <a:spLocks noGrp="1"/>
          </p:cNvSpPr>
          <p:nvPr/>
        </p:nvSpPr>
        <p:spPr>
          <a:xfrm>
            <a:off x="223520" y="255905"/>
            <a:ext cx="3031490" cy="368935"/>
          </a:xfrm>
          <a:prstGeom prst="rect">
            <a:avLst/>
          </a:prstGeom>
          <a:noFill/>
        </p:spPr>
        <p:txBody>
          <a:bodyPr wrap="square" lIns="36576" tIns="22860" rIns="36576" bIns="2286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  <a:endParaRPr sz="1800" b="1">
              <a:solidFill>
                <a:srgbClr val="2169E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494792" y="750443"/>
            <a:ext cx="8321040" cy="6362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3.</a:t>
            </a:r>
            <a:r>
              <a:rPr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训练结果留不下</a:t>
            </a:r>
            <a:r>
              <a:rPr lang="zh-CN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——智能陪练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2966085" y="1347470"/>
            <a:ext cx="9126220" cy="41465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altLang="zh-CN" sz="2000" b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--</a:t>
            </a:r>
            <a:r>
              <a:rPr lang="zh-CN" altLang="en-US" sz="2000" b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让每轮练习都有评分、反馈与改进建议，训练过程可回看、可比较、可追踪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58368" y="1920240"/>
            <a:ext cx="2889504" cy="44074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96112" y="2194560"/>
            <a:ext cx="23591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EF4444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这个问题是什么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659130" y="2682240"/>
            <a:ext cx="3026410" cy="1376045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练完一轮对话，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如果没有评分和反馈，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店长仍然不知道员工卡在哪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879775" y="4089774"/>
            <a:ext cx="23591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00" b="1" dirty="0" err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系统怎么解</a:t>
            </a:r>
            <a:endParaRPr sz="2000" b="1" dirty="0">
              <a:solidFill>
                <a:srgbClr val="2169E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659130" y="4498975"/>
            <a:ext cx="2834640" cy="149987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智能陪练记录训练过程，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生成即时反馈、改进建议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和可追踪的训练结果</a:t>
            </a:r>
          </a:p>
        </p:txBody>
      </p:sp>
      <p:sp>
        <p:nvSpPr>
          <p:cNvPr id="20" name="Connector 19"/>
          <p:cNvSpPr>
            <a:spLocks noGrp="1"/>
          </p:cNvSpPr>
          <p:nvPr/>
        </p:nvSpPr>
        <p:spPr>
          <a:xfrm flipH="1" flipV="1">
            <a:off x="0" y="0"/>
            <a:ext cx="0" cy="0"/>
          </a:xfrm>
          <a:prstGeom prst="line">
            <a:avLst/>
          </a:prstGeom>
          <a:ln w="25400">
            <a:solidFill>
              <a:srgbClr val="AB7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9528175" y="6327902"/>
            <a:ext cx="1920240" cy="438912"/>
          </a:xfrm>
          <a:prstGeom prst="roundRect">
            <a:avLst/>
          </a:prstGeom>
          <a:solidFill>
            <a:srgbClr val="FFF4D6"/>
          </a:solidFill>
          <a:ln>
            <a:solidFill>
              <a:srgbClr val="B789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9204960" y="6341745"/>
            <a:ext cx="2602230" cy="3771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i="1">
                <a:solidFill>
                  <a:srgbClr val="9A6700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即时反馈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586105" y="1347343"/>
            <a:ext cx="557784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" name="1b045e3fba1e3cb7515b7d90cdf41011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25290" y="1774190"/>
            <a:ext cx="7581600" cy="4503600"/>
          </a:xfrm>
          <a:prstGeom prst="rect">
            <a:avLst/>
          </a:prstGeom>
          <a:ln w="28575" cmpd="sng">
            <a:solidFill>
              <a:srgbClr val="B78948"/>
            </a:solidFill>
            <a:prstDash val="solid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>
                <p:cTn id="50" fill="hold" display="1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5" grpId="0"/>
      <p:bldP spid="7" grpId="0"/>
      <p:bldP spid="10" grpId="0" animBg="1"/>
      <p:bldP spid="11" grpId="0"/>
      <p:bldP spid="12" grpId="0"/>
      <p:bldP spid="13" grpId="0"/>
      <p:bldP spid="14" grpId="0"/>
      <p:bldP spid="22" grpId="0" animBg="1"/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5月19日 10_16_23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58622" y="749808"/>
            <a:ext cx="8321040" cy="6362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4.</a:t>
            </a:r>
            <a:r>
              <a:rPr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不知道先跟进谁</a:t>
            </a:r>
            <a:r>
              <a:rPr lang="zh-CN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——风险看板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5801233" y="1325499"/>
            <a:ext cx="8138160" cy="41465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altLang="zh-CN" sz="2000" b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--</a:t>
            </a:r>
            <a:r>
              <a:rPr lang="zh-CN" altLang="en-US" sz="2000" b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把整体异常拆到具体员工、风险等级和薄弱维度</a:t>
            </a:r>
            <a:endParaRPr lang="zh-CN" altLang="en-US" b="1">
              <a:solidFill>
                <a:schemeClr val="tx1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58368" y="1920240"/>
            <a:ext cx="2889504" cy="44074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96112" y="2194560"/>
            <a:ext cx="23591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EF4444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这个问题是什么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08355" y="2606040"/>
            <a:ext cx="2739390" cy="11760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店长能看到整体异常，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却很难判断谁最需要跟进，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问题集中在哪个维度。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853440" y="4155948"/>
            <a:ext cx="23591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00" b="1" dirty="0" err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系统怎么解</a:t>
            </a:r>
            <a:endParaRPr sz="2000" b="1" dirty="0">
              <a:solidFill>
                <a:srgbClr val="2169E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880872" y="4567428"/>
            <a:ext cx="2359152" cy="15367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4000"/>
              </a:lnSpc>
              <a:buNone/>
            </a:pPr>
            <a:r>
              <a:rPr lang="zh-CN" altLang="en-US" b="1" dirty="0" err="1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系统按风险等级汇总员工表现，标出高风险人员和薄弱项，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 err="1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让辅导对象一眼定位。</a:t>
            </a:r>
          </a:p>
        </p:txBody>
      </p:sp>
      <p:sp>
        <p:nvSpPr>
          <p:cNvPr id="20" name="Connector 19"/>
          <p:cNvSpPr>
            <a:spLocks noGrp="1"/>
          </p:cNvSpPr>
          <p:nvPr/>
        </p:nv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AB7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文本框 5"/>
          <p:cNvSpPr txBox="1"/>
          <p:nvPr/>
        </p:nvSpPr>
        <p:spPr>
          <a:xfrm>
            <a:off x="323215" y="220980"/>
            <a:ext cx="288925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4504690" y="1824355"/>
            <a:ext cx="7581600" cy="4503600"/>
          </a:xfrm>
          <a:prstGeom prst="roundRect">
            <a:avLst/>
          </a:prstGeom>
          <a:ln w="19050">
            <a:solidFill>
              <a:srgbClr val="B78948"/>
            </a:solidFill>
          </a:ln>
        </p:spPr>
      </p:pic>
      <p:sp>
        <p:nvSpPr>
          <p:cNvPr id="22" name="Rounded Rectangle 21"/>
          <p:cNvSpPr>
            <a:spLocks noGrp="1"/>
          </p:cNvSpPr>
          <p:nvPr/>
        </p:nvSpPr>
        <p:spPr>
          <a:xfrm>
            <a:off x="9256395" y="5318887"/>
            <a:ext cx="1920240" cy="438912"/>
          </a:xfrm>
          <a:prstGeom prst="roundRect">
            <a:avLst/>
          </a:prstGeom>
          <a:solidFill>
            <a:srgbClr val="FFF4D6"/>
          </a:solidFill>
          <a:ln>
            <a:solidFill>
              <a:srgbClr val="7E5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9256522" y="5318760"/>
            <a:ext cx="1810512" cy="36766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i="1">
                <a:solidFill>
                  <a:srgbClr val="9A6700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直接定位到人</a:t>
            </a:r>
          </a:p>
        </p:txBody>
      </p:sp>
      <p:sp>
        <p:nvSpPr>
          <p:cNvPr id="26" name="Rectangle 5"/>
          <p:cNvSpPr>
            <a:spLocks noGrp="1"/>
          </p:cNvSpPr>
          <p:nvPr/>
        </p:nvSpPr>
        <p:spPr>
          <a:xfrm>
            <a:off x="853440" y="1320673"/>
            <a:ext cx="557784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7E5426"/>
              </a:solidFill>
            </a:endParaRPr>
          </a:p>
        </p:txBody>
      </p:sp>
      <p:pic>
        <p:nvPicPr>
          <p:cNvPr id="27" name="图片 26"/>
          <p:cNvPicPr/>
          <p:nvPr/>
        </p:nvPicPr>
        <p:blipFill>
          <a:blip r:embed="rId4"/>
          <a:srcRect l="56643" t="44577" r="24136" b="23376"/>
          <a:stretch>
            <a:fillRect/>
          </a:stretch>
        </p:blipFill>
        <p:spPr>
          <a:xfrm>
            <a:off x="8012430" y="3023870"/>
            <a:ext cx="2728595" cy="2294890"/>
          </a:xfrm>
          <a:prstGeom prst="ellipse">
            <a:avLst/>
          </a:prstGeom>
          <a:ln w="19050">
            <a:solidFill>
              <a:srgbClr val="EEF4FF"/>
            </a:solidFill>
          </a:ln>
        </p:spPr>
      </p:pic>
      <p:sp>
        <p:nvSpPr>
          <p:cNvPr id="19" name="Rounded Rectangle 18"/>
          <p:cNvSpPr>
            <a:spLocks noGrp="1"/>
          </p:cNvSpPr>
          <p:nvPr/>
        </p:nvSpPr>
        <p:spPr>
          <a:xfrm>
            <a:off x="6229985" y="5318760"/>
            <a:ext cx="1539875" cy="1001395"/>
          </a:xfrm>
          <a:prstGeom prst="roundRect">
            <a:avLst/>
          </a:prstGeom>
          <a:noFill/>
          <a:ln w="33020">
            <a:solidFill>
              <a:srgbClr val="1E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animBg="1"/>
      <p:bldP spid="11" grpId="0"/>
      <p:bldP spid="12" grpId="0"/>
      <p:bldP spid="13" grpId="0"/>
      <p:bldP spid="14" grpId="0"/>
      <p:bldP spid="22" grpId="0" bldLvl="0" animBg="1"/>
      <p:bldP spid="23" grpId="0"/>
      <p:bldP spid="19" grpId="0" animBg="1"/>
      <p:bldP spid="1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5月19日 10_16_23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731647" y="749808"/>
            <a:ext cx="8321040" cy="6362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altLang="zh-CN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4.</a:t>
            </a:r>
            <a:r>
              <a:rPr lang="zh-CN" alt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发现问题后怎么跟进 —— 成长计划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5756910" y="1310640"/>
            <a:ext cx="6174740" cy="41465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2000" b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--</a:t>
            </a:r>
            <a:r>
              <a:rPr lang="zh-CN" altLang="en-US" sz="2000" b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把风险员工、薄弱维度和训练重点转成可执行计划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979662" y="1902587"/>
            <a:ext cx="2670048" cy="4443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052560" y="2212975"/>
            <a:ext cx="2441575" cy="1654810"/>
          </a:xfrm>
          <a:prstGeom prst="rect">
            <a:avLst/>
          </a:prstGeom>
          <a:noFill/>
        </p:spPr>
        <p:txBody>
          <a:bodyPr wrap="square" lIns="36576" tIns="22860" rIns="36576" bIns="22860" anchor="t">
            <a:no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zh-CN" altLang="en-US"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从发现到执行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看板定位问题，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成长计划承接任务，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让辅导有下一步。</a:t>
            </a:r>
          </a:p>
        </p:txBody>
      </p:sp>
      <p:sp>
        <p:nvSpPr>
          <p:cNvPr id="18" name="Connector 17"/>
          <p:cNvSpPr>
            <a:spLocks noGrp="1"/>
          </p:cNvSpPr>
          <p:nvPr/>
        </p:nvSpPr>
        <p:spPr>
          <a:xfrm flipV="1">
            <a:off x="0" y="0"/>
            <a:ext cx="0" cy="0"/>
          </a:xfrm>
          <a:prstGeom prst="line">
            <a:avLst/>
          </a:prstGeom>
          <a:ln w="25400">
            <a:solidFill>
              <a:srgbClr val="AB7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0" name="Rounded Rectangle 19"/>
          <p:cNvSpPr>
            <a:spLocks noGrp="1"/>
          </p:cNvSpPr>
          <p:nvPr/>
        </p:nvSpPr>
        <p:spPr>
          <a:xfrm>
            <a:off x="10148719" y="6092947"/>
            <a:ext cx="1783080" cy="411480"/>
          </a:xfrm>
          <a:prstGeom prst="roundRect">
            <a:avLst/>
          </a:prstGeom>
          <a:solidFill>
            <a:srgbClr val="FFF4D6"/>
          </a:solidFill>
          <a:ln>
            <a:solidFill>
              <a:srgbClr val="7E5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10148807" y="6092691"/>
            <a:ext cx="1783079" cy="358775"/>
          </a:xfrm>
          <a:prstGeom prst="rect">
            <a:avLst/>
          </a:prstGeom>
          <a:noFill/>
        </p:spPr>
        <p:txBody>
          <a:bodyPr wrap="square" lIns="27432" tIns="13716" rIns="27432" bIns="13716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i="1" dirty="0" err="1">
                <a:solidFill>
                  <a:srgbClr val="9A6700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下一步怎么安排</a:t>
            </a:r>
            <a:endParaRPr sz="1800" b="1" i="1" dirty="0">
              <a:solidFill>
                <a:srgbClr val="9A6700"/>
              </a:solidFill>
              <a:latin typeface="Songti SC" panose="02010800040101010101" charset="-122"/>
              <a:ea typeface="Songti SC" panose="02010800040101010101" charset="-122"/>
              <a:cs typeface="宋体-简" panose="020108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12750" y="171450"/>
            <a:ext cx="3268980" cy="4140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  <p:sp>
        <p:nvSpPr>
          <p:cNvPr id="26" name="Rectangle 5"/>
          <p:cNvSpPr>
            <a:spLocks noGrp="1"/>
          </p:cNvSpPr>
          <p:nvPr/>
        </p:nvSpPr>
        <p:spPr>
          <a:xfrm>
            <a:off x="786130" y="1360678"/>
            <a:ext cx="648000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7E5426"/>
              </a:solidFill>
            </a:endParaRPr>
          </a:p>
        </p:txBody>
      </p:sp>
      <p:pic>
        <p:nvPicPr>
          <p:cNvPr id="9" name="图片 8"/>
          <p:cNvPicPr/>
          <p:nvPr/>
        </p:nvPicPr>
        <p:blipFill>
          <a:blip r:embed="rId4"/>
          <a:stretch>
            <a:fillRect/>
          </a:stretch>
        </p:blipFill>
        <p:spPr>
          <a:xfrm>
            <a:off x="605790" y="2008505"/>
            <a:ext cx="7581600" cy="4338000"/>
          </a:xfrm>
          <a:prstGeom prst="roundRect">
            <a:avLst/>
          </a:prstGeom>
          <a:ln w="19050">
            <a:solidFill>
              <a:srgbClr val="B78948"/>
            </a:solidFill>
          </a:ln>
        </p:spPr>
      </p:pic>
      <p:sp>
        <p:nvSpPr>
          <p:cNvPr id="17" name="Rounded Rectangle 16"/>
          <p:cNvSpPr>
            <a:spLocks noGrp="1"/>
          </p:cNvSpPr>
          <p:nvPr/>
        </p:nvSpPr>
        <p:spPr>
          <a:xfrm>
            <a:off x="5835650" y="4683125"/>
            <a:ext cx="1543050" cy="1114425"/>
          </a:xfrm>
          <a:prstGeom prst="roundRect">
            <a:avLst/>
          </a:prstGeom>
          <a:noFill/>
          <a:ln w="33020">
            <a:solidFill>
              <a:srgbClr val="1E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2" name="图片 21"/>
          <p:cNvPicPr/>
          <p:nvPr/>
        </p:nvPicPr>
        <p:blipFill>
          <a:blip r:embed="rId5"/>
          <a:srcRect l="70547" t="60503" r="10569" b="8521"/>
          <a:stretch>
            <a:fillRect/>
          </a:stretch>
        </p:blipFill>
        <p:spPr>
          <a:xfrm>
            <a:off x="8133080" y="4640580"/>
            <a:ext cx="1991995" cy="2050415"/>
          </a:xfrm>
          <a:prstGeom prst="ellipse">
            <a:avLst/>
          </a:prstGeom>
        </p:spPr>
      </p:pic>
      <p:sp>
        <p:nvSpPr>
          <p:cNvPr id="16" name="TextBox 15"/>
          <p:cNvSpPr>
            <a:spLocks noGrp="1"/>
          </p:cNvSpPr>
          <p:nvPr/>
        </p:nvSpPr>
        <p:spPr>
          <a:xfrm>
            <a:off x="9052433" y="4207637"/>
            <a:ext cx="2212848" cy="11569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4000"/>
              </a:lnSpc>
              <a:buNone/>
            </a:pPr>
            <a:r>
              <a:rPr b="1" dirty="0" err="1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员工、阶段、训练重点和执行进度都能在页面里持续跟进。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4" grpId="0" animBg="1"/>
      <p:bldP spid="14" grpId="1" animBg="1"/>
      <p:bldP spid="15" grpId="0"/>
      <p:bldP spid="20" grpId="0" bldLvl="0" animBg="1"/>
      <p:bldP spid="21" grpId="0"/>
      <p:bldP spid="17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5月19日 10_16_23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21792" y="508508"/>
            <a:ext cx="8321040" cy="6362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altLang="zh-CN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5.</a:t>
            </a:r>
            <a:r>
              <a:rPr lang="zh-CN" alt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查结果还要等报表——一句话查询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5443220" y="1243330"/>
            <a:ext cx="5981065" cy="41465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altLang="zh-CN" sz="2000" b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--</a:t>
            </a:r>
            <a:r>
              <a:rPr lang="zh-CN" altLang="en-US" sz="2000" b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让管理者用提问直接拿到关键结论和重点名单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658368" y="1920240"/>
            <a:ext cx="2889504" cy="44074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896112" y="2194560"/>
            <a:ext cx="23591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EF4444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这个问题是什么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896112" y="2774823"/>
            <a:ext cx="2359152" cy="11760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管理者不是不会分析，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而是查数据、汇总表、</a:t>
            </a:r>
          </a:p>
          <a:p>
            <a:pPr algn="l">
              <a:lnSpc>
                <a:spcPct val="135000"/>
              </a:lnSpc>
              <a:buNone/>
            </a:pPr>
            <a:r>
              <a:rPr lang="zh-CN" altLang="en-US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定位人员都太慢。</a:t>
            </a: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896112" y="4072763"/>
            <a:ext cx="2359152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000" b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系统怎么解</a:t>
            </a:r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853440" y="4605655"/>
            <a:ext cx="2511425" cy="11658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输入一句管理问题，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系统直接返回结论、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重点人员和下一步建议。</a:t>
            </a:r>
          </a:p>
        </p:txBody>
      </p:sp>
      <p:sp>
        <p:nvSpPr>
          <p:cNvPr id="20" name="Connector 19"/>
          <p:cNvSpPr>
            <a:spLocks noGrp="1"/>
          </p:cNvSpPr>
          <p:nvPr/>
        </p:nv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AB7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4033520" y="1920240"/>
            <a:ext cx="7581600" cy="4338000"/>
          </a:xfrm>
          <a:prstGeom prst="roundRect">
            <a:avLst/>
          </a:prstGeom>
          <a:ln w="19050">
            <a:solidFill>
              <a:srgbClr val="B78948"/>
            </a:solidFill>
          </a:ln>
        </p:spPr>
      </p:pic>
      <p:sp>
        <p:nvSpPr>
          <p:cNvPr id="19" name="Rounded Rectangle 18"/>
          <p:cNvSpPr>
            <a:spLocks noGrp="1"/>
          </p:cNvSpPr>
          <p:nvPr/>
        </p:nvSpPr>
        <p:spPr>
          <a:xfrm>
            <a:off x="6299835" y="3014345"/>
            <a:ext cx="3714115" cy="697865"/>
          </a:xfrm>
          <a:prstGeom prst="roundRect">
            <a:avLst/>
          </a:prstGeom>
          <a:noFill/>
          <a:ln w="33020">
            <a:solidFill>
              <a:srgbClr val="1E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Rectangle 5"/>
          <p:cNvSpPr>
            <a:spLocks noGrp="1"/>
          </p:cNvSpPr>
          <p:nvPr/>
        </p:nvSpPr>
        <p:spPr>
          <a:xfrm>
            <a:off x="621665" y="1117473"/>
            <a:ext cx="665640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7E5426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0200" y="152400"/>
            <a:ext cx="288226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  <p:pic>
        <p:nvPicPr>
          <p:cNvPr id="8" name="图片 7"/>
          <p:cNvPicPr/>
          <p:nvPr/>
        </p:nvPicPr>
        <p:blipFill>
          <a:blip r:embed="rId4"/>
          <a:srcRect l="47702" t="18744" r="36036" b="49840"/>
          <a:stretch>
            <a:fillRect/>
          </a:stretch>
        </p:blipFill>
        <p:spPr>
          <a:xfrm>
            <a:off x="7837170" y="3340735"/>
            <a:ext cx="2397125" cy="2178685"/>
          </a:xfrm>
          <a:prstGeom prst="ellipse">
            <a:avLst/>
          </a:prstGeom>
          <a:ln w="19050">
            <a:solidFill>
              <a:srgbClr val="EEF4FF"/>
            </a:solidFill>
          </a:ln>
        </p:spPr>
      </p:pic>
      <p:sp>
        <p:nvSpPr>
          <p:cNvPr id="16" name="Rounded Rectangle 19"/>
          <p:cNvSpPr>
            <a:spLocks noGrp="1"/>
          </p:cNvSpPr>
          <p:nvPr/>
        </p:nvSpPr>
        <p:spPr>
          <a:xfrm>
            <a:off x="9155430" y="5114925"/>
            <a:ext cx="1810385" cy="411480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文本框 16"/>
          <p:cNvSpPr txBox="1"/>
          <p:nvPr/>
        </p:nvSpPr>
        <p:spPr>
          <a:xfrm>
            <a:off x="9269095" y="5139690"/>
            <a:ext cx="1696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7E5426"/>
                </a:solidFill>
              </a:rPr>
              <a:t>直接查询结果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animBg="1"/>
      <p:bldP spid="11" grpId="0"/>
      <p:bldP spid="12" grpId="0"/>
      <p:bldP spid="13" grpId="0"/>
      <p:bldP spid="14" grpId="0"/>
      <p:bldP spid="19" grpId="0" animBg="1"/>
      <p:bldP spid="16" grpId="0" animBg="1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hatGPT Image 2026年5月19日 10_16_23 (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21665" y="622935"/>
            <a:ext cx="6264275" cy="6464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增强系统交互体验——数字人</a:t>
            </a:r>
          </a:p>
          <a:p>
            <a:pPr algn="l">
              <a:lnSpc>
                <a:spcPct val="120000"/>
              </a:lnSpc>
              <a:buNone/>
            </a:pPr>
            <a:endParaRPr lang="en-US" altLang="zh-CN" sz="3200" b="1" dirty="0">
              <a:solidFill>
                <a:srgbClr val="2169E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  <a:p>
            <a:pPr algn="l">
              <a:lnSpc>
                <a:spcPct val="120000"/>
              </a:lnSpc>
              <a:buNone/>
            </a:pPr>
            <a:endParaRPr lang="en-US" altLang="zh-CN" sz="3200" b="1" dirty="0">
              <a:solidFill>
                <a:srgbClr val="2169E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3691255" y="1280795"/>
            <a:ext cx="8376698" cy="36644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2000" b="1" dirty="0" err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--</a:t>
            </a:r>
            <a:r>
              <a:rPr lang="zh-CN" altLang="en-US" sz="2000" b="1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将问答、学习、陪练等能力转化为可讲解、可演示、可引导的系统入口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8249920" y="1847342"/>
            <a:ext cx="3657600" cy="44439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Rounded Rectangle 14"/>
          <p:cNvSpPr>
            <a:spLocks noGrp="1"/>
          </p:cNvSpPr>
          <p:nvPr/>
        </p:nvSpPr>
        <p:spPr>
          <a:xfrm>
            <a:off x="8936482" y="2093468"/>
            <a:ext cx="1490472" cy="384048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/>
          <p:cNvSpPr>
            <a:spLocks noGrp="1"/>
          </p:cNvSpPr>
          <p:nvPr/>
        </p:nvSpPr>
        <p:spPr>
          <a:xfrm>
            <a:off x="8965184" y="2093976"/>
            <a:ext cx="1389888" cy="292608"/>
          </a:xfrm>
          <a:prstGeom prst="rect">
            <a:avLst/>
          </a:prstGeom>
          <a:noFill/>
        </p:spPr>
        <p:txBody>
          <a:bodyPr wrap="square" lIns="9144" tIns="7620" rIns="9144" bIns="7620" anchor="ctr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展示亮点</a:t>
            </a:r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8675624" y="2669413"/>
            <a:ext cx="3163824" cy="11569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4000"/>
              </a:lnSpc>
              <a:buNone/>
            </a:pPr>
            <a:r>
              <a:rPr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数字人让产品形态更直观</a:t>
            </a:r>
            <a:r>
              <a:rPr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：</a:t>
            </a:r>
          </a:p>
          <a:p>
            <a:pPr algn="l">
              <a:lnSpc>
                <a:spcPct val="134000"/>
              </a:lnSpc>
              <a:buNone/>
            </a:pPr>
            <a:r>
              <a:rPr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  </a:t>
            </a:r>
            <a:r>
              <a:rPr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这套系统不只是后台工具</a:t>
            </a:r>
            <a:r>
              <a:rPr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，  </a:t>
            </a:r>
            <a:r>
              <a:rPr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也可以直接面向门店展示</a:t>
            </a:r>
            <a:r>
              <a:rPr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。</a:t>
            </a: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8864854" y="4018280"/>
            <a:ext cx="2724912" cy="67500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8000"/>
              </a:lnSpc>
              <a:buNone/>
            </a:pPr>
            <a:r>
              <a:rPr sz="1600" b="0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可以承担迎宾、讲解和</a:t>
            </a:r>
          </a:p>
          <a:p>
            <a:pPr algn="l">
              <a:lnSpc>
                <a:spcPct val="128000"/>
              </a:lnSpc>
              <a:buNone/>
            </a:pPr>
            <a:r>
              <a:rPr sz="1600" b="0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产品介绍这类展示场景</a:t>
            </a:r>
            <a:endParaRPr sz="1600" b="0" dirty="0">
              <a:solidFill>
                <a:srgbClr val="15224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8865141" y="4734107"/>
            <a:ext cx="2724912" cy="64658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8000"/>
              </a:lnSpc>
              <a:buNone/>
            </a:pPr>
            <a:r>
              <a:rPr sz="1600" b="0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和问答、知识学习、训练功能结合，形成更完整体验</a:t>
            </a:r>
            <a:endParaRPr sz="1600" b="0" dirty="0">
              <a:solidFill>
                <a:srgbClr val="15224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8864600" y="5494655"/>
            <a:ext cx="2964815" cy="384175"/>
          </a:xfrm>
          <a:prstGeom prst="rect">
            <a:avLst/>
          </a:prstGeom>
          <a:noFill/>
        </p:spPr>
        <p:txBody>
          <a:bodyPr wrap="square" lIns="36576" tIns="22860" rIns="36576" bIns="22860" anchor="t">
            <a:noAutofit/>
          </a:bodyPr>
          <a:lstStyle/>
          <a:p>
            <a:pPr algn="l">
              <a:lnSpc>
                <a:spcPct val="128000"/>
              </a:lnSpc>
              <a:buNone/>
            </a:pPr>
            <a:r>
              <a:rPr sz="1600" b="0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这一页也最能直观体现产品形态</a:t>
            </a:r>
            <a:endParaRPr sz="1600" b="0" dirty="0">
              <a:solidFill>
                <a:srgbClr val="15224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pic>
        <p:nvPicPr>
          <p:cNvPr id="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452120" y="1949450"/>
            <a:ext cx="7302500" cy="4033520"/>
          </a:xfrm>
          <a:prstGeom prst="roundRect">
            <a:avLst/>
          </a:prstGeom>
          <a:ln w="19050">
            <a:solidFill>
              <a:srgbClr val="B78948"/>
            </a:solidFill>
          </a:ln>
        </p:spPr>
      </p:pic>
      <p:pic>
        <p:nvPicPr>
          <p:cNvPr id="6" name="图片 5"/>
          <p:cNvPicPr/>
          <p:nvPr/>
        </p:nvPicPr>
        <p:blipFill>
          <a:blip r:embed="rId4"/>
          <a:srcRect l="78738" t="41547" b="29036"/>
          <a:stretch>
            <a:fillRect/>
          </a:stretch>
        </p:blipFill>
        <p:spPr>
          <a:xfrm>
            <a:off x="5779770" y="2861310"/>
            <a:ext cx="2203450" cy="2209800"/>
          </a:xfrm>
          <a:prstGeom prst="ellipse">
            <a:avLst/>
          </a:prstGeom>
          <a:ln w="28575">
            <a:solidFill>
              <a:srgbClr val="EEF4FF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257175" y="125730"/>
            <a:ext cx="2896235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  <p:sp>
        <p:nvSpPr>
          <p:cNvPr id="13" name="Rectangle 5"/>
          <p:cNvSpPr>
            <a:spLocks noGrp="1"/>
          </p:cNvSpPr>
          <p:nvPr/>
        </p:nvSpPr>
        <p:spPr>
          <a:xfrm>
            <a:off x="621665" y="1244473"/>
            <a:ext cx="557640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7E5426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548370" y="4182745"/>
            <a:ext cx="127000" cy="108585"/>
          </a:xfrm>
          <a:prstGeom prst="rect">
            <a:avLst/>
          </a:prstGeom>
          <a:solidFill>
            <a:srgbClr val="7E542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548370" y="4957445"/>
            <a:ext cx="127000" cy="108585"/>
          </a:xfrm>
          <a:prstGeom prst="rect">
            <a:avLst/>
          </a:prstGeom>
          <a:solidFill>
            <a:srgbClr val="7E542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548370" y="5659755"/>
            <a:ext cx="127000" cy="108585"/>
          </a:xfrm>
          <a:prstGeom prst="rect">
            <a:avLst/>
          </a:prstGeom>
          <a:solidFill>
            <a:srgbClr val="7E542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4992878" y="5275834"/>
            <a:ext cx="1892808" cy="384048"/>
          </a:xfrm>
          <a:prstGeom prst="roundRect">
            <a:avLst/>
          </a:prstGeom>
          <a:solidFill>
            <a:srgbClr val="FFF4D6"/>
          </a:solidFill>
          <a:ln>
            <a:solidFill>
              <a:srgbClr val="7E5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4911725" y="5275580"/>
            <a:ext cx="2093595" cy="384175"/>
          </a:xfrm>
          <a:prstGeom prst="rect">
            <a:avLst/>
          </a:prstGeom>
          <a:noFill/>
        </p:spPr>
        <p:txBody>
          <a:bodyPr wrap="square" lIns="27432" tIns="9144" rIns="27432" bIns="9144" anchor="ctr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dirty="0" err="1">
                <a:solidFill>
                  <a:srgbClr val="9A67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数字人界面实拍</a:t>
            </a:r>
            <a:endParaRPr sz="1800" b="1" dirty="0">
              <a:solidFill>
                <a:srgbClr val="9A6700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4" grpId="0" animBg="1"/>
      <p:bldP spid="15" grpId="0" animBg="1"/>
      <p:bldP spid="16" grpId="0"/>
      <p:bldP spid="17" grpId="0"/>
      <p:bldP spid="19" grpId="0"/>
      <p:bldP spid="21" grpId="0"/>
      <p:bldP spid="23" grpId="0"/>
      <p:bldP spid="28" grpId="0" animBg="1"/>
      <p:bldP spid="29" grpId="0" animBg="1"/>
      <p:bldP spid="30" grpId="0" animBg="1"/>
      <p:bldP spid="24" grpId="0" bldLvl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5月19日 10_16_23 (2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678942" y="749808"/>
            <a:ext cx="8321040" cy="6362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系统如何自我优化 —— 智能体记忆中枢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6635514" y="1320673"/>
            <a:ext cx="5322570" cy="430502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--</a:t>
            </a:r>
            <a:r>
              <a:rPr lang="zh-CN" altLang="en-US" sz="2000" b="1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让系统从“会回答”进化为“会自我优化”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586105" y="2150745"/>
            <a:ext cx="2889250" cy="4092575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/>
          <p:cNvSpPr>
            <a:spLocks noGrp="1"/>
          </p:cNvSpPr>
          <p:nvPr/>
        </p:nvSpPr>
        <p:spPr>
          <a:xfrm>
            <a:off x="808355" y="2681605"/>
            <a:ext cx="2796540" cy="3289935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lnSpc>
                <a:spcPct val="134000"/>
              </a:lnSpc>
              <a:buNone/>
            </a:pPr>
            <a:r>
              <a:rPr lang="zh-CN" altLang="en-US" b="1" dirty="0" err="1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 </a:t>
            </a:r>
            <a:r>
              <a:rPr lang="zh-CN" altLang="en-US" b="1" dirty="0" err="1">
                <a:solidFill>
                  <a:srgbClr val="C00000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系统怎么升级</a:t>
            </a:r>
          </a:p>
          <a:p>
            <a:pPr algn="l">
              <a:lnSpc>
                <a:spcPct val="134000"/>
              </a:lnSpc>
              <a:buNone/>
            </a:pPr>
            <a:endParaRPr lang="en-US" altLang="zh-CN" b="1" dirty="0" err="1">
              <a:solidFill>
                <a:srgbClr val="536E92"/>
              </a:solidFill>
              <a:latin typeface="Songti SC" panose="02010800040101010101" charset="-122"/>
              <a:ea typeface="Songti SC" panose="02010800040101010101" charset="-122"/>
              <a:cs typeface="宋体-简" panose="02010800040101010101" charset="-122"/>
            </a:endParaRP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 err="1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&gt; 用户反馈进入记忆中枢  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 err="1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&gt; 提炼为经验和规则  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 err="1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&gt; 经审核后回流到问答</a:t>
            </a:r>
            <a:r>
              <a:rPr lang="en-US" altLang="zh-CN" b="1" dirty="0" err="1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                       </a:t>
            </a:r>
            <a:r>
              <a:rPr lang="zh-CN" altLang="en-US" b="1" dirty="0" err="1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陪练和在岗助手</a:t>
            </a:r>
          </a:p>
          <a:p>
            <a:pPr algn="l">
              <a:lnSpc>
                <a:spcPct val="134000"/>
              </a:lnSpc>
              <a:buNone/>
            </a:pPr>
            <a:r>
              <a:rPr lang="zh-CN" altLang="en-US" b="1" dirty="0" err="1">
                <a:solidFill>
                  <a:srgbClr val="536E9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&gt; 让系统持续自我优化</a:t>
            </a:r>
          </a:p>
        </p:txBody>
      </p:sp>
      <p:sp>
        <p:nvSpPr>
          <p:cNvPr id="20" name="Connector 19"/>
          <p:cNvSpPr>
            <a:spLocks noGrp="1"/>
          </p:cNvSpPr>
          <p:nvPr/>
        </p:nvSpPr>
        <p:spPr>
          <a:xfrm>
            <a:off x="0" y="0"/>
            <a:ext cx="0" cy="0"/>
          </a:xfrm>
          <a:prstGeom prst="line">
            <a:avLst/>
          </a:prstGeom>
          <a:ln w="25400">
            <a:solidFill>
              <a:srgbClr val="AB7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6" name="文本框 5"/>
          <p:cNvSpPr txBox="1"/>
          <p:nvPr/>
        </p:nvSpPr>
        <p:spPr>
          <a:xfrm>
            <a:off x="323215" y="220980"/>
            <a:ext cx="288925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  <p:sp>
        <p:nvSpPr>
          <p:cNvPr id="26" name="Rectangle 5"/>
          <p:cNvSpPr>
            <a:spLocks noGrp="1"/>
          </p:cNvSpPr>
          <p:nvPr/>
        </p:nvSpPr>
        <p:spPr>
          <a:xfrm>
            <a:off x="808355" y="1320673"/>
            <a:ext cx="701640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7E5426"/>
              </a:solidFill>
            </a:endParaRPr>
          </a:p>
        </p:txBody>
      </p:sp>
      <p:pic>
        <p:nvPicPr>
          <p:cNvPr id="3" name="图片 2"/>
          <p:cNvPicPr/>
          <p:nvPr/>
        </p:nvPicPr>
        <p:blipFill>
          <a:blip r:embed="rId4"/>
          <a:stretch>
            <a:fillRect/>
          </a:stretch>
        </p:blipFill>
        <p:spPr>
          <a:xfrm>
            <a:off x="4138930" y="1905635"/>
            <a:ext cx="7581600" cy="4338000"/>
          </a:xfrm>
          <a:prstGeom prst="roundRect">
            <a:avLst/>
          </a:prstGeom>
          <a:ln w="19050">
            <a:solidFill>
              <a:srgbClr val="B78948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rcRect l="5258" t="65399" r="51592" b="709"/>
          <a:stretch>
            <a:fillRect/>
          </a:stretch>
        </p:blipFill>
        <p:spPr>
          <a:xfrm>
            <a:off x="4138930" y="4928870"/>
            <a:ext cx="1720215" cy="814705"/>
          </a:xfrm>
          <a:prstGeom prst="roundRect">
            <a:avLst/>
          </a:prstGeom>
          <a:ln>
            <a:solidFill>
              <a:srgbClr val="1E5349"/>
            </a:solidFill>
          </a:ln>
        </p:spPr>
      </p:pic>
      <p:sp>
        <p:nvSpPr>
          <p:cNvPr id="15" name="Rounded Rectangle 21"/>
          <p:cNvSpPr>
            <a:spLocks noGrp="1"/>
          </p:cNvSpPr>
          <p:nvPr/>
        </p:nvSpPr>
        <p:spPr>
          <a:xfrm>
            <a:off x="4138295" y="5804535"/>
            <a:ext cx="1588135" cy="438785"/>
          </a:xfrm>
          <a:prstGeom prst="roundRect">
            <a:avLst/>
          </a:prstGeom>
          <a:solidFill>
            <a:srgbClr val="FFF4D6"/>
          </a:solidFill>
          <a:ln>
            <a:solidFill>
              <a:srgbClr val="7E54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/>
          <p:cNvSpPr txBox="1"/>
          <p:nvPr/>
        </p:nvSpPr>
        <p:spPr>
          <a:xfrm>
            <a:off x="4314190" y="5875020"/>
            <a:ext cx="1330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i="1">
                <a:solidFill>
                  <a:srgbClr val="7E5426"/>
                </a:solidFill>
                <a:latin typeface="宋体" pitchFamily="2" charset="-122"/>
                <a:ea typeface="宋体" pitchFamily="2" charset="-122"/>
              </a:rPr>
              <a:t>反馈入口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729230" y="6374765"/>
            <a:ext cx="6733540" cy="4235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indent="0"/>
            <a:r>
              <a:rPr lang="zh-CN" altLang="en-US" i="1">
                <a:solidFill>
                  <a:srgbClr val="1A1C1F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用户反馈 → 记忆沉淀 → 规则生成 → 审核升级 → 业务回流</a:t>
            </a:r>
          </a:p>
          <a:p>
            <a:pPr marL="0" indent="0"/>
            <a:endParaRPr lang="en-US" altLang="zh-CN" i="1">
              <a:solidFill>
                <a:srgbClr val="1A1C1F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  <a:p>
            <a:pPr marL="0" indent="0"/>
            <a:endParaRPr lang="en-US" altLang="zh-CN" i="1">
              <a:solidFill>
                <a:srgbClr val="1A1C1F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animBg="1"/>
      <p:bldP spid="14" grpId="0"/>
      <p:bldP spid="15" grpId="0" animBg="1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hatGPT Image 2026年5月19日 10_16_23 (3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728471" y="575818"/>
            <a:ext cx="10098345" cy="6362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从功能入口到数据闭环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2356485" y="1316355"/>
            <a:ext cx="9835515" cy="41465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--</a:t>
            </a:r>
            <a:r>
              <a:rPr lang="zh-CN" altLang="en-US" sz="2000" b="1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操作有入口，结果能沉淀，后续可追踪，让每一次训练结果都能进入下一步管理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521335" y="2009140"/>
            <a:ext cx="11346815" cy="46507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96112" y="2267712"/>
            <a:ext cx="2157984" cy="2761488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42416" y="2487168"/>
            <a:ext cx="585216" cy="4754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01</a:t>
            </a:r>
          </a:p>
        </p:txBody>
      </p:sp>
      <p:sp>
        <p:nvSpPr>
          <p:cNvPr id="13" name="TextBox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42416" y="2944368"/>
            <a:ext cx="1783080" cy="45148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sz="2200" b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页面承接</a:t>
            </a:r>
          </a:p>
        </p:txBody>
      </p:sp>
      <p:sp>
        <p:nvSpPr>
          <p:cNvPr id="14" name="TextBox 1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05205" y="3456305"/>
            <a:ext cx="1965960" cy="11417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复盘、陪练、看板、计划都有明确</a:t>
            </a:r>
          </a:p>
          <a:p>
            <a:pPr algn="l">
              <a:lnSpc>
                <a:spcPct val="132000"/>
              </a:lnSpc>
              <a:buNone/>
            </a:pPr>
            <a:r>
              <a:rPr lang="zh-CN" altLang="en-US" sz="18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操作入口</a:t>
            </a:r>
          </a:p>
        </p:txBody>
      </p:sp>
      <p:sp>
        <p:nvSpPr>
          <p:cNvPr id="15" name="Rounded Rectangle 1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84448" y="2267712"/>
            <a:ext cx="2157984" cy="2761488"/>
          </a:xfrm>
          <a:prstGeom prst="roundRect">
            <a:avLst/>
          </a:prstGeom>
          <a:solidFill>
            <a:srgbClr val="ECFDF3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730752" y="2487168"/>
            <a:ext cx="585216" cy="4754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16A34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02</a:t>
            </a:r>
          </a:p>
        </p:txBody>
      </p:sp>
      <p:sp>
        <p:nvSpPr>
          <p:cNvPr id="17" name="TextBox 16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730752" y="2944368"/>
            <a:ext cx="1783080" cy="45148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sz="2200" b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后台沉淀</a:t>
            </a:r>
          </a:p>
        </p:txBody>
      </p:sp>
      <p:sp>
        <p:nvSpPr>
          <p:cNvPr id="18" name="TextBox 1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684905" y="3456305"/>
            <a:ext cx="1957705" cy="11417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接待记录、训练</a:t>
            </a:r>
          </a:p>
          <a:p>
            <a:pPr algn="l">
              <a:lnSpc>
                <a:spcPct val="132000"/>
              </a:lnSpc>
              <a:buNone/>
            </a:pPr>
            <a:r>
              <a:rPr lang="zh-CN" altLang="en-US" sz="18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反馈统一保存为</a:t>
            </a:r>
          </a:p>
          <a:p>
            <a:pPr algn="l">
              <a:lnSpc>
                <a:spcPct val="132000"/>
              </a:lnSpc>
              <a:buNone/>
            </a:pPr>
            <a:r>
              <a:rPr lang="zh-CN" altLang="en-US" sz="18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员工数据</a:t>
            </a:r>
          </a:p>
        </p:txBody>
      </p:sp>
      <p:sp>
        <p:nvSpPr>
          <p:cNvPr id="19" name="Rounded Rectangle 1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272784" y="2267712"/>
            <a:ext cx="2157984" cy="2761488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419088" y="2487168"/>
            <a:ext cx="585216" cy="4754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EF4444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03</a:t>
            </a:r>
          </a:p>
        </p:txBody>
      </p:sp>
      <p:sp>
        <p:nvSpPr>
          <p:cNvPr id="21" name="TextBox 20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19088" y="2944368"/>
            <a:ext cx="1783080" cy="45148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sz="2200" b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智能流转</a:t>
            </a:r>
          </a:p>
        </p:txBody>
      </p:sp>
      <p:sp>
        <p:nvSpPr>
          <p:cNvPr id="22" name="TextBox 2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419088" y="3456432"/>
            <a:ext cx="1783080" cy="11417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系统根据结果</a:t>
            </a:r>
          </a:p>
          <a:p>
            <a:pPr algn="l">
              <a:lnSpc>
                <a:spcPct val="132000"/>
              </a:lnSpc>
              <a:buNone/>
            </a:pPr>
            <a:r>
              <a:rPr lang="zh-CN" altLang="en-US" sz="18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识别风险并生成后续辅导方向</a:t>
            </a:r>
          </a:p>
        </p:txBody>
      </p:sp>
      <p:sp>
        <p:nvSpPr>
          <p:cNvPr id="23" name="Rounded Rectangle 2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961120" y="2267712"/>
            <a:ext cx="2157984" cy="2761488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107424" y="2487168"/>
            <a:ext cx="585216" cy="4754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F59E0B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04</a:t>
            </a:r>
          </a:p>
        </p:txBody>
      </p:sp>
      <p:sp>
        <p:nvSpPr>
          <p:cNvPr id="25" name="TextBox 2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107424" y="2944368"/>
            <a:ext cx="1783080" cy="45148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sz="2200" b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结果回显</a:t>
            </a:r>
          </a:p>
        </p:txBody>
      </p:sp>
      <p:sp>
        <p:nvSpPr>
          <p:cNvPr id="26" name="TextBox 25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9107424" y="3456432"/>
            <a:ext cx="1783080" cy="11417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训练结果回到</a:t>
            </a:r>
          </a:p>
          <a:p>
            <a:pPr algn="l">
              <a:lnSpc>
                <a:spcPct val="132000"/>
              </a:lnSpc>
              <a:buNone/>
            </a:pPr>
            <a:r>
              <a:rPr lang="zh-CN" altLang="en-US" sz="18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看板和计划支撑管理持续跟进</a:t>
            </a: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757555" y="5358130"/>
            <a:ext cx="10880725" cy="731520"/>
          </a:xfrm>
          <a:prstGeom prst="roundRect">
            <a:avLst/>
          </a:prstGeom>
          <a:solidFill>
            <a:srgbClr val="FFF7E8"/>
          </a:solidFill>
          <a:ln w="15240">
            <a:solidFill>
              <a:srgbClr val="F2D6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757555" y="5510530"/>
            <a:ext cx="10880725" cy="48831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7A4B00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系统的价值不在于功能堆叠，而在于前一页的结果，会成为后一页的管理依据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22580" y="155575"/>
            <a:ext cx="309753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40080" y="1226693"/>
            <a:ext cx="557784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文本框 40"/>
          <p:cNvSpPr txBox="1"/>
          <p:nvPr/>
        </p:nvSpPr>
        <p:spPr>
          <a:xfrm>
            <a:off x="3556000" y="632301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zh-CN" altLang="en-US" sz="1600"/>
              <a:t>页面承接｜后台沉淀｜智能流转｜结果回显｜闭环管理</a:t>
            </a:r>
          </a:p>
        </p:txBody>
      </p:sp>
      <p:pic>
        <p:nvPicPr>
          <p:cNvPr id="43" name="支撑图标-系统页面"/>
          <p:cNvPicPr/>
          <p:nvPr/>
        </p:nvPicPr>
        <p:blipFill>
          <a:blip r:embed="rId20"/>
          <a:stretch>
            <a:fillRect/>
          </a:stretch>
        </p:blipFill>
        <p:spPr>
          <a:xfrm>
            <a:off x="2407920" y="2488565"/>
            <a:ext cx="547200" cy="547200"/>
          </a:xfrm>
          <a:prstGeom prst="rect">
            <a:avLst/>
          </a:prstGeom>
        </p:spPr>
      </p:pic>
      <p:pic>
        <p:nvPicPr>
          <p:cNvPr id="44" name="支撑图标-后台服务"/>
          <p:cNvPicPr/>
          <p:nvPr/>
        </p:nvPicPr>
        <p:blipFill>
          <a:blip r:embed="rId21"/>
          <a:stretch>
            <a:fillRect/>
          </a:stretch>
        </p:blipFill>
        <p:spPr>
          <a:xfrm>
            <a:off x="5113020" y="2488565"/>
            <a:ext cx="547200" cy="547200"/>
          </a:xfrm>
          <a:prstGeom prst="rect">
            <a:avLst/>
          </a:prstGeom>
        </p:spPr>
      </p:pic>
      <p:pic>
        <p:nvPicPr>
          <p:cNvPr id="45" name="支撑图标-智能流程"/>
          <p:cNvPicPr/>
          <p:nvPr/>
        </p:nvPicPr>
        <p:blipFill>
          <a:blip r:embed="rId22"/>
          <a:stretch>
            <a:fillRect/>
          </a:stretch>
        </p:blipFill>
        <p:spPr>
          <a:xfrm>
            <a:off x="7762875" y="2487295"/>
            <a:ext cx="547200" cy="547200"/>
          </a:xfrm>
          <a:prstGeom prst="rect">
            <a:avLst/>
          </a:prstGeom>
        </p:spPr>
      </p:pic>
      <p:pic>
        <p:nvPicPr>
          <p:cNvPr id="46" name="支撑图标-结果展示"/>
          <p:cNvPicPr/>
          <p:nvPr/>
        </p:nvPicPr>
        <p:blipFill>
          <a:blip r:embed="rId23"/>
          <a:stretch>
            <a:fillRect/>
          </a:stretch>
        </p:blipFill>
        <p:spPr>
          <a:xfrm>
            <a:off x="10412730" y="2488565"/>
            <a:ext cx="547200" cy="547370"/>
          </a:xfrm>
          <a:prstGeom prst="rect">
            <a:avLst/>
          </a:prstGeom>
        </p:spPr>
      </p:pic>
      <p:sp>
        <p:nvSpPr>
          <p:cNvPr id="47" name="右箭头 46"/>
          <p:cNvSpPr/>
          <p:nvPr/>
        </p:nvSpPr>
        <p:spPr>
          <a:xfrm>
            <a:off x="3089910" y="3592830"/>
            <a:ext cx="458470" cy="188595"/>
          </a:xfrm>
          <a:prstGeom prst="rightArrow">
            <a:avLst/>
          </a:prstGeom>
          <a:solidFill>
            <a:srgbClr val="EEF4FF"/>
          </a:solidFill>
          <a:ln>
            <a:solidFill>
              <a:srgbClr val="B7894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右箭头 47"/>
          <p:cNvSpPr/>
          <p:nvPr/>
        </p:nvSpPr>
        <p:spPr>
          <a:xfrm>
            <a:off x="5767705" y="3592830"/>
            <a:ext cx="458470" cy="188595"/>
          </a:xfrm>
          <a:prstGeom prst="rightArrow">
            <a:avLst/>
          </a:prstGeom>
          <a:solidFill>
            <a:srgbClr val="EEF4FF"/>
          </a:solidFill>
          <a:ln>
            <a:solidFill>
              <a:srgbClr val="B7894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右箭头 48"/>
          <p:cNvSpPr/>
          <p:nvPr/>
        </p:nvSpPr>
        <p:spPr>
          <a:xfrm>
            <a:off x="8477250" y="3592830"/>
            <a:ext cx="458470" cy="188595"/>
          </a:xfrm>
          <a:prstGeom prst="rightArrow">
            <a:avLst/>
          </a:prstGeom>
          <a:solidFill>
            <a:srgbClr val="EEF4FF"/>
          </a:solidFill>
          <a:ln>
            <a:solidFill>
              <a:srgbClr val="B7894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animBg="1"/>
      <p:bldP spid="11" grpId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 animBg="1"/>
      <p:bldP spid="24" grpId="0"/>
      <p:bldP spid="25" grpId="0"/>
      <p:bldP spid="26" grpId="0"/>
      <p:bldP spid="33" grpId="0" animBg="1"/>
      <p:bldP spid="34" grpId="0"/>
      <p:bldP spid="41" grpId="0"/>
      <p:bldP spid="47" grpId="0" animBg="1"/>
      <p:bldP spid="48" grpId="0" animBg="1"/>
      <p:bldP spid="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hatGPT Image 2026年5月19日 10_16_23 (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750062" y="597408"/>
            <a:ext cx="8321040" cy="6362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一套系统，服务三类角色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4601210" y="1261110"/>
            <a:ext cx="6627495" cy="41465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sz="2000" b="1" dirty="0" err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--</a:t>
            </a:r>
            <a:r>
              <a:rPr lang="zh-CN" altLang="en-US" sz="2000" b="1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总部看全局，店长抓重点，员工看任务，结果统一沉淀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749808" y="2039112"/>
            <a:ext cx="10479024" cy="1133856"/>
          </a:xfrm>
          <a:prstGeom prst="roundRect">
            <a:avLst/>
          </a:prstGeom>
          <a:solidFill>
            <a:srgbClr val="FFF7E8"/>
          </a:solidFill>
          <a:ln w="15240">
            <a:solidFill>
              <a:srgbClr val="1E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/>
          <p:cNvSpPr>
            <a:spLocks noGrp="1"/>
          </p:cNvSpPr>
          <p:nvPr/>
        </p:nvSpPr>
        <p:spPr>
          <a:xfrm>
            <a:off x="933069" y="2349881"/>
            <a:ext cx="2011680" cy="384048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2400" b="1">
                <a:solidFill>
                  <a:srgbClr val="9A67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同一套系统</a:t>
            </a:r>
          </a:p>
        </p:txBody>
      </p:sp>
      <p:sp>
        <p:nvSpPr>
          <p:cNvPr id="12" name="TextBox 11"/>
          <p:cNvSpPr>
            <a:spLocks noGrp="1"/>
          </p:cNvSpPr>
          <p:nvPr/>
        </p:nvSpPr>
        <p:spPr>
          <a:xfrm>
            <a:off x="2788920" y="2162302"/>
            <a:ext cx="3749040" cy="850900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ctr">
              <a:lnSpc>
                <a:spcPct val="134000"/>
              </a:lnSpc>
              <a:buNone/>
            </a:pPr>
            <a:r>
              <a:rPr lang="zh-CN" altLang="en-US" sz="2000" b="1">
                <a:solidFill>
                  <a:srgbClr val="15224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  <a:sym typeface="+mn-ea"/>
              </a:rPr>
              <a:t>同一套数据，</a:t>
            </a:r>
            <a:endParaRPr lang="zh-CN" altLang="en-US" sz="2000" b="1">
              <a:solidFill>
                <a:srgbClr val="152242"/>
              </a:solidFill>
              <a:latin typeface="Songti SC" panose="02010800040101010101" charset="-122"/>
              <a:ea typeface="Songti SC" panose="02010800040101010101" charset="-122"/>
              <a:cs typeface="宋体-简" panose="02010800040101010101" charset="-122"/>
            </a:endParaRPr>
          </a:p>
          <a:p>
            <a:pPr algn="ctr">
              <a:lnSpc>
                <a:spcPct val="134000"/>
              </a:lnSpc>
              <a:buNone/>
            </a:pPr>
            <a:r>
              <a:rPr lang="zh-CN" altLang="en-US" sz="2000" b="1">
                <a:solidFill>
                  <a:srgbClr val="152242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  <a:sym typeface="+mn-ea"/>
              </a:rPr>
              <a:t>不同角色视角</a:t>
            </a:r>
            <a:endParaRPr lang="zh-CN" altLang="en-US" sz="2000" b="1">
              <a:solidFill>
                <a:srgbClr val="152242"/>
              </a:solidFill>
              <a:latin typeface="Songti SC" panose="02010800040101010101" charset="-122"/>
              <a:ea typeface="Songti SC" panose="02010800040101010101" charset="-122"/>
              <a:cs typeface="宋体-简" panose="02010800040101010101" charset="-122"/>
            </a:endParaRPr>
          </a:p>
        </p:txBody>
      </p:sp>
      <p:sp>
        <p:nvSpPr>
          <p:cNvPr id="13" name="TextBox 12"/>
          <p:cNvSpPr>
            <a:spLocks noGrp="1"/>
          </p:cNvSpPr>
          <p:nvPr/>
        </p:nvSpPr>
        <p:spPr>
          <a:xfrm>
            <a:off x="6464300" y="2162302"/>
            <a:ext cx="2926080" cy="850900"/>
          </a:xfrm>
          <a:prstGeom prst="rect">
            <a:avLst/>
          </a:prstGeom>
          <a:noFill/>
        </p:spPr>
        <p:txBody>
          <a:bodyPr wrap="square" lIns="32004" tIns="13716" rIns="32004" bIns="13716" anchor="t">
            <a:spAutoFit/>
          </a:bodyPr>
          <a:lstStyle/>
          <a:p>
            <a:pPr algn="ctr">
              <a:lnSpc>
                <a:spcPct val="134000"/>
              </a:lnSpc>
              <a:buNone/>
            </a:pPr>
            <a:r>
              <a:rPr sz="2000" b="1">
                <a:solidFill>
                  <a:schemeClr val="tx1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区别只在于：</a:t>
            </a:r>
          </a:p>
          <a:p>
            <a:pPr algn="ctr">
              <a:lnSpc>
                <a:spcPct val="134000"/>
              </a:lnSpc>
              <a:buNone/>
            </a:pPr>
            <a:r>
              <a:rPr sz="2000" b="1">
                <a:solidFill>
                  <a:schemeClr val="tx1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谁更关心哪个结果</a:t>
            </a:r>
          </a:p>
        </p:txBody>
      </p:sp>
      <p:sp>
        <p:nvSpPr>
          <p:cNvPr id="14" name="Rounded Rectangle 13"/>
          <p:cNvSpPr>
            <a:spLocks noGrp="1"/>
          </p:cNvSpPr>
          <p:nvPr/>
        </p:nvSpPr>
        <p:spPr>
          <a:xfrm>
            <a:off x="9555480" y="2186432"/>
            <a:ext cx="1298448" cy="384048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" tIns="13716" rIns="32004" bIns="13716" anchor="t"/>
          <a:lstStyle/>
          <a:p>
            <a:pPr algn="ctr">
              <a:buNone/>
            </a:pPr>
            <a:endParaRPr/>
          </a:p>
        </p:txBody>
      </p:sp>
      <p:sp>
        <p:nvSpPr>
          <p:cNvPr id="15" name="TextBox 14"/>
          <p:cNvSpPr>
            <a:spLocks noGrp="1"/>
          </p:cNvSpPr>
          <p:nvPr/>
        </p:nvSpPr>
        <p:spPr>
          <a:xfrm>
            <a:off x="9555480" y="2186305"/>
            <a:ext cx="1371600" cy="236855"/>
          </a:xfrm>
          <a:prstGeom prst="rect">
            <a:avLst/>
          </a:prstGeom>
          <a:noFill/>
        </p:spPr>
        <p:txBody>
          <a:bodyPr wrap="square" lIns="32004" tIns="13716" rIns="32004" bIns="13716" anchor="t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1800" b="1">
                <a:solidFill>
                  <a:srgbClr val="9A67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同一套数据</a:t>
            </a:r>
          </a:p>
        </p:txBody>
      </p:sp>
      <p:sp>
        <p:nvSpPr>
          <p:cNvPr id="16" name="Rounded Rectangle 15"/>
          <p:cNvSpPr>
            <a:spLocks noGrp="1"/>
          </p:cNvSpPr>
          <p:nvPr/>
        </p:nvSpPr>
        <p:spPr>
          <a:xfrm>
            <a:off x="9464040" y="2628900"/>
            <a:ext cx="1609725" cy="384175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" tIns="13716" rIns="32004" bIns="13716" anchor="t"/>
          <a:lstStyle/>
          <a:p>
            <a:pPr algn="ctr">
              <a:buNone/>
            </a:pPr>
            <a:endParaRPr/>
          </a:p>
        </p:txBody>
      </p:sp>
      <p:sp>
        <p:nvSpPr>
          <p:cNvPr id="17" name="TextBox 16"/>
          <p:cNvSpPr>
            <a:spLocks noGrp="1"/>
          </p:cNvSpPr>
          <p:nvPr/>
        </p:nvSpPr>
        <p:spPr>
          <a:xfrm>
            <a:off x="9391650" y="2628900"/>
            <a:ext cx="1718945" cy="451485"/>
          </a:xfrm>
          <a:prstGeom prst="rect">
            <a:avLst/>
          </a:prstGeom>
          <a:noFill/>
        </p:spPr>
        <p:txBody>
          <a:bodyPr wrap="square" lIns="32004" tIns="13716" rIns="32004" bIns="13716" anchor="t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sz="1800" b="1">
                <a:solidFill>
                  <a:srgbClr val="9A67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不同角色入口</a:t>
            </a:r>
          </a:p>
        </p:txBody>
      </p:sp>
      <p:sp>
        <p:nvSpPr>
          <p:cNvPr id="18" name="Rounded Rectangle 17"/>
          <p:cNvSpPr>
            <a:spLocks noGrp="1"/>
          </p:cNvSpPr>
          <p:nvPr/>
        </p:nvSpPr>
        <p:spPr>
          <a:xfrm>
            <a:off x="749808" y="3310127"/>
            <a:ext cx="2971800" cy="328317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Rounded Rectangle 18"/>
          <p:cNvSpPr>
            <a:spLocks noGrp="1"/>
          </p:cNvSpPr>
          <p:nvPr/>
        </p:nvSpPr>
        <p:spPr>
          <a:xfrm>
            <a:off x="932815" y="3529330"/>
            <a:ext cx="1920240" cy="503555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/>
          <p:cNvSpPr>
            <a:spLocks noGrp="1"/>
          </p:cNvSpPr>
          <p:nvPr/>
        </p:nvSpPr>
        <p:spPr>
          <a:xfrm>
            <a:off x="932815" y="3612515"/>
            <a:ext cx="1920240" cy="45148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总部培训经理</a:t>
            </a:r>
          </a:p>
        </p:txBody>
      </p:sp>
      <p:sp>
        <p:nvSpPr>
          <p:cNvPr id="21" name="TextBox 20"/>
          <p:cNvSpPr>
            <a:spLocks noGrp="1"/>
          </p:cNvSpPr>
          <p:nvPr/>
        </p:nvSpPr>
        <p:spPr>
          <a:xfrm>
            <a:off x="932688" y="4153662"/>
            <a:ext cx="2560320" cy="85725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sz="20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最关心：</a:t>
            </a:r>
          </a:p>
          <a:p>
            <a:pPr algn="l">
              <a:lnSpc>
                <a:spcPct val="132000"/>
              </a:lnSpc>
              <a:buNone/>
            </a:pPr>
            <a:r>
              <a:rPr sz="20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谁掉队、哪里风险高</a:t>
            </a:r>
          </a:p>
        </p:txBody>
      </p:sp>
      <p:sp>
        <p:nvSpPr>
          <p:cNvPr id="22" name="Rounded Rectangle 21"/>
          <p:cNvSpPr>
            <a:spLocks noGrp="1"/>
          </p:cNvSpPr>
          <p:nvPr/>
        </p:nvSpPr>
        <p:spPr>
          <a:xfrm>
            <a:off x="932688" y="5230368"/>
            <a:ext cx="1508760" cy="310896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TextBox 22"/>
          <p:cNvSpPr>
            <a:spLocks noGrp="1"/>
          </p:cNvSpPr>
          <p:nvPr/>
        </p:nvSpPr>
        <p:spPr>
          <a:xfrm>
            <a:off x="1001268" y="5198777"/>
            <a:ext cx="1371600" cy="236855"/>
          </a:xfrm>
          <a:prstGeom prst="rect">
            <a:avLst/>
          </a:prstGeom>
          <a:noFill/>
        </p:spPr>
        <p:txBody>
          <a:bodyPr wrap="square" lIns="22860" tIns="9144" rIns="22860" bIns="9144" anchor="t">
            <a:no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dirty="0" err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风险分布</a:t>
            </a:r>
            <a:endParaRPr sz="1800" b="1" dirty="0">
              <a:solidFill>
                <a:srgbClr val="2169E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4" name="Rounded Rectangle 23"/>
          <p:cNvSpPr>
            <a:spLocks noGrp="1"/>
          </p:cNvSpPr>
          <p:nvPr/>
        </p:nvSpPr>
        <p:spPr>
          <a:xfrm>
            <a:off x="932688" y="5595493"/>
            <a:ext cx="15087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TextBox 24"/>
          <p:cNvSpPr>
            <a:spLocks noGrp="1"/>
          </p:cNvSpPr>
          <p:nvPr/>
        </p:nvSpPr>
        <p:spPr>
          <a:xfrm>
            <a:off x="978535" y="5581901"/>
            <a:ext cx="1371600" cy="237744"/>
          </a:xfrm>
          <a:prstGeom prst="rect">
            <a:avLst/>
          </a:prstGeom>
          <a:noFill/>
        </p:spPr>
        <p:txBody>
          <a:bodyPr wrap="square" lIns="22860" tIns="9144" rIns="22860" bIns="9144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dirty="0" err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重点对象</a:t>
            </a:r>
            <a:endParaRPr sz="1800" b="1" dirty="0">
              <a:solidFill>
                <a:srgbClr val="2169E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6" name="Rounded Rectangle 25"/>
          <p:cNvSpPr>
            <a:spLocks noGrp="1"/>
          </p:cNvSpPr>
          <p:nvPr/>
        </p:nvSpPr>
        <p:spPr>
          <a:xfrm>
            <a:off x="932688" y="5961888"/>
            <a:ext cx="15087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TextBox 26"/>
          <p:cNvSpPr>
            <a:spLocks noGrp="1"/>
          </p:cNvSpPr>
          <p:nvPr/>
        </p:nvSpPr>
        <p:spPr>
          <a:xfrm>
            <a:off x="1001268" y="5948412"/>
            <a:ext cx="1371600" cy="237744"/>
          </a:xfrm>
          <a:prstGeom prst="rect">
            <a:avLst/>
          </a:prstGeom>
          <a:noFill/>
        </p:spPr>
        <p:txBody>
          <a:bodyPr wrap="square" lIns="22860" tIns="9144" rIns="22860" bIns="9144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dirty="0" err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辅导优先级</a:t>
            </a:r>
            <a:endParaRPr sz="1800" b="1" dirty="0">
              <a:solidFill>
                <a:srgbClr val="2169E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8" name="Rounded Rectangle 27"/>
          <p:cNvSpPr>
            <a:spLocks noGrp="1"/>
          </p:cNvSpPr>
          <p:nvPr/>
        </p:nvSpPr>
        <p:spPr>
          <a:xfrm>
            <a:off x="4224528" y="3310128"/>
            <a:ext cx="2971800" cy="32831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Rounded Rectangle 28"/>
          <p:cNvSpPr>
            <a:spLocks noGrp="1"/>
          </p:cNvSpPr>
          <p:nvPr/>
        </p:nvSpPr>
        <p:spPr>
          <a:xfrm>
            <a:off x="4407535" y="3529330"/>
            <a:ext cx="1688465" cy="50419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TextBox 29"/>
          <p:cNvSpPr>
            <a:spLocks noGrp="1"/>
          </p:cNvSpPr>
          <p:nvPr/>
        </p:nvSpPr>
        <p:spPr>
          <a:xfrm>
            <a:off x="4407408" y="3612515"/>
            <a:ext cx="2035302" cy="39850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200"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店长</a:t>
            </a:r>
            <a:r>
              <a:rPr sz="2200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/</a:t>
            </a:r>
            <a:r>
              <a:rPr sz="2200"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管理者</a:t>
            </a:r>
            <a:endParaRPr sz="2200" b="1" dirty="0">
              <a:solidFill>
                <a:srgbClr val="15224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1" name="TextBox 30"/>
          <p:cNvSpPr>
            <a:spLocks noGrp="1"/>
          </p:cNvSpPr>
          <p:nvPr/>
        </p:nvSpPr>
        <p:spPr>
          <a:xfrm>
            <a:off x="4407408" y="4153662"/>
            <a:ext cx="2560320" cy="85725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sz="20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最关心：</a:t>
            </a:r>
          </a:p>
          <a:p>
            <a:pPr algn="l">
              <a:lnSpc>
                <a:spcPct val="132000"/>
              </a:lnSpc>
              <a:buNone/>
            </a:pPr>
            <a:r>
              <a:rPr sz="20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今天先抓什么动作</a:t>
            </a:r>
          </a:p>
        </p:txBody>
      </p:sp>
      <p:sp>
        <p:nvSpPr>
          <p:cNvPr id="32" name="Rounded Rectangle 31"/>
          <p:cNvSpPr>
            <a:spLocks noGrp="1"/>
          </p:cNvSpPr>
          <p:nvPr/>
        </p:nvSpPr>
        <p:spPr>
          <a:xfrm>
            <a:off x="4407408" y="5230368"/>
            <a:ext cx="1508760" cy="310896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TextBox 32"/>
          <p:cNvSpPr>
            <a:spLocks noGrp="1"/>
          </p:cNvSpPr>
          <p:nvPr/>
        </p:nvSpPr>
        <p:spPr>
          <a:xfrm>
            <a:off x="4453128" y="5191896"/>
            <a:ext cx="1371600" cy="237744"/>
          </a:xfrm>
          <a:prstGeom prst="rect">
            <a:avLst/>
          </a:prstGeom>
          <a:noFill/>
        </p:spPr>
        <p:txBody>
          <a:bodyPr wrap="square" lIns="22860" tIns="9144" rIns="22860" bIns="9144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dirty="0" err="1">
                <a:solidFill>
                  <a:srgbClr val="16A34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首页结果</a:t>
            </a:r>
            <a:endParaRPr sz="1800" b="1" dirty="0">
              <a:solidFill>
                <a:srgbClr val="16A34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4" name="Rounded Rectangle 33"/>
          <p:cNvSpPr>
            <a:spLocks noGrp="1"/>
          </p:cNvSpPr>
          <p:nvPr/>
        </p:nvSpPr>
        <p:spPr>
          <a:xfrm>
            <a:off x="4407408" y="5596128"/>
            <a:ext cx="15087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TextBox 34"/>
          <p:cNvSpPr>
            <a:spLocks noGrp="1"/>
          </p:cNvSpPr>
          <p:nvPr/>
        </p:nvSpPr>
        <p:spPr>
          <a:xfrm>
            <a:off x="4407154" y="5580200"/>
            <a:ext cx="1371600" cy="237744"/>
          </a:xfrm>
          <a:prstGeom prst="rect">
            <a:avLst/>
          </a:prstGeom>
          <a:noFill/>
        </p:spPr>
        <p:txBody>
          <a:bodyPr wrap="square" lIns="22860" tIns="9144" rIns="22860" bIns="9144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dirty="0" err="1">
                <a:solidFill>
                  <a:srgbClr val="16A34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一句话查询</a:t>
            </a:r>
            <a:endParaRPr sz="1800" b="1" dirty="0">
              <a:solidFill>
                <a:srgbClr val="16A34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6" name="Rounded Rectangle 35"/>
          <p:cNvSpPr>
            <a:spLocks noGrp="1"/>
          </p:cNvSpPr>
          <p:nvPr/>
        </p:nvSpPr>
        <p:spPr>
          <a:xfrm>
            <a:off x="4407408" y="5961888"/>
            <a:ext cx="15087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TextBox 36"/>
          <p:cNvSpPr>
            <a:spLocks noGrp="1"/>
          </p:cNvSpPr>
          <p:nvPr/>
        </p:nvSpPr>
        <p:spPr>
          <a:xfrm>
            <a:off x="4453128" y="5948412"/>
            <a:ext cx="1371600" cy="237744"/>
          </a:xfrm>
          <a:prstGeom prst="rect">
            <a:avLst/>
          </a:prstGeom>
          <a:noFill/>
        </p:spPr>
        <p:txBody>
          <a:bodyPr wrap="square" lIns="22860" tIns="9144" rIns="22860" bIns="9144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dirty="0" err="1">
                <a:solidFill>
                  <a:srgbClr val="16A34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计划推进</a:t>
            </a:r>
            <a:endParaRPr sz="1800" b="1" dirty="0">
              <a:solidFill>
                <a:srgbClr val="16A34A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38" name="Rounded Rectangle 37"/>
          <p:cNvSpPr>
            <a:spLocks noGrp="1"/>
          </p:cNvSpPr>
          <p:nvPr/>
        </p:nvSpPr>
        <p:spPr>
          <a:xfrm>
            <a:off x="7699248" y="3310128"/>
            <a:ext cx="3035808" cy="3200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Rounded Rectangle 38"/>
          <p:cNvSpPr>
            <a:spLocks noGrp="1"/>
          </p:cNvSpPr>
          <p:nvPr/>
        </p:nvSpPr>
        <p:spPr>
          <a:xfrm>
            <a:off x="7882255" y="3529330"/>
            <a:ext cx="1509395" cy="504825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/>
          <p:cNvSpPr>
            <a:spLocks noGrp="1"/>
          </p:cNvSpPr>
          <p:nvPr/>
        </p:nvSpPr>
        <p:spPr>
          <a:xfrm>
            <a:off x="7882255" y="3612515"/>
            <a:ext cx="1673225" cy="398507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200"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导购</a:t>
            </a:r>
            <a:r>
              <a:rPr sz="2200" b="1" dirty="0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/</a:t>
            </a:r>
            <a:r>
              <a:rPr sz="2200" b="1" dirty="0" err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学员</a:t>
            </a:r>
            <a:endParaRPr sz="2200" b="1" dirty="0">
              <a:solidFill>
                <a:srgbClr val="15224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1" name="TextBox 40"/>
          <p:cNvSpPr>
            <a:spLocks noGrp="1"/>
          </p:cNvSpPr>
          <p:nvPr/>
        </p:nvSpPr>
        <p:spPr>
          <a:xfrm>
            <a:off x="7881620" y="4153535"/>
            <a:ext cx="2853690" cy="85725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sz="20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最关心：</a:t>
            </a:r>
          </a:p>
          <a:p>
            <a:pPr algn="l">
              <a:lnSpc>
                <a:spcPct val="132000"/>
              </a:lnSpc>
              <a:buNone/>
            </a:pPr>
            <a:r>
              <a:rPr sz="20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接下来怎么学</a:t>
            </a:r>
            <a:r>
              <a:rPr lang="zh-CN" sz="2000" b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、怎么改</a:t>
            </a:r>
          </a:p>
        </p:txBody>
      </p:sp>
      <p:sp>
        <p:nvSpPr>
          <p:cNvPr id="42" name="Rounded Rectangle 41"/>
          <p:cNvSpPr>
            <a:spLocks noGrp="1"/>
          </p:cNvSpPr>
          <p:nvPr/>
        </p:nvSpPr>
        <p:spPr>
          <a:xfrm>
            <a:off x="7882128" y="5230368"/>
            <a:ext cx="1508760" cy="310896"/>
          </a:xfrm>
          <a:prstGeom prst="round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TextBox 42"/>
          <p:cNvSpPr>
            <a:spLocks noGrp="1"/>
          </p:cNvSpPr>
          <p:nvPr/>
        </p:nvSpPr>
        <p:spPr>
          <a:xfrm>
            <a:off x="7927848" y="5227001"/>
            <a:ext cx="1371600" cy="237744"/>
          </a:xfrm>
          <a:prstGeom prst="rect">
            <a:avLst/>
          </a:prstGeom>
          <a:noFill/>
        </p:spPr>
        <p:txBody>
          <a:bodyPr wrap="square" lIns="22860" tIns="9144" rIns="22860" bIns="9144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dirty="0" err="1">
                <a:solidFill>
                  <a:srgbClr val="F59E0B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复盘助手</a:t>
            </a:r>
            <a:endParaRPr sz="1800" b="1" dirty="0">
              <a:solidFill>
                <a:srgbClr val="F59E0B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4" name="Rounded Rectangle 43"/>
          <p:cNvSpPr>
            <a:spLocks noGrp="1"/>
          </p:cNvSpPr>
          <p:nvPr/>
        </p:nvSpPr>
        <p:spPr>
          <a:xfrm>
            <a:off x="7882128" y="5596128"/>
            <a:ext cx="15087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TextBox 44"/>
          <p:cNvSpPr>
            <a:spLocks noGrp="1"/>
          </p:cNvSpPr>
          <p:nvPr/>
        </p:nvSpPr>
        <p:spPr>
          <a:xfrm>
            <a:off x="7950073" y="5581502"/>
            <a:ext cx="1371600" cy="237744"/>
          </a:xfrm>
          <a:prstGeom prst="rect">
            <a:avLst/>
          </a:prstGeom>
          <a:noFill/>
        </p:spPr>
        <p:txBody>
          <a:bodyPr wrap="square" lIns="22860" tIns="9144" rIns="22860" bIns="9144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dirty="0" err="1">
                <a:solidFill>
                  <a:srgbClr val="F59E0B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智能陪练</a:t>
            </a:r>
            <a:endParaRPr sz="1800" b="1" dirty="0">
              <a:solidFill>
                <a:srgbClr val="F59E0B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6" name="Rounded Rectangle 45"/>
          <p:cNvSpPr>
            <a:spLocks noGrp="1"/>
          </p:cNvSpPr>
          <p:nvPr/>
        </p:nvSpPr>
        <p:spPr>
          <a:xfrm>
            <a:off x="7881493" y="5980303"/>
            <a:ext cx="1508760" cy="310896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Box 46"/>
          <p:cNvSpPr>
            <a:spLocks noGrp="1"/>
          </p:cNvSpPr>
          <p:nvPr/>
        </p:nvSpPr>
        <p:spPr>
          <a:xfrm>
            <a:off x="7927848" y="5948412"/>
            <a:ext cx="1371600" cy="237744"/>
          </a:xfrm>
          <a:prstGeom prst="rect">
            <a:avLst/>
          </a:prstGeom>
          <a:noFill/>
        </p:spPr>
        <p:txBody>
          <a:bodyPr wrap="square" lIns="22860" tIns="9144" rIns="22860" bIns="9144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sz="1800" b="1" dirty="0" err="1">
                <a:solidFill>
                  <a:srgbClr val="F59E0B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成长执行</a:t>
            </a:r>
            <a:endParaRPr sz="1800" b="1" dirty="0">
              <a:solidFill>
                <a:srgbClr val="F59E0B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pic>
        <p:nvPicPr>
          <p:cNvPr id="48" name="角色头像-总部培训经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3438144"/>
            <a:ext cx="457200" cy="457200"/>
          </a:xfrm>
          <a:prstGeom prst="rect">
            <a:avLst/>
          </a:prstGeom>
        </p:spPr>
      </p:pic>
      <p:pic>
        <p:nvPicPr>
          <p:cNvPr id="49" name="角色头像-店长管理者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3438144"/>
            <a:ext cx="457200" cy="457200"/>
          </a:xfrm>
          <a:prstGeom prst="rect">
            <a:avLst/>
          </a:prstGeom>
        </p:spPr>
      </p:pic>
      <p:pic>
        <p:nvPicPr>
          <p:cNvPr id="50" name="角色头像-导购学员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438144"/>
            <a:ext cx="457200" cy="457200"/>
          </a:xfrm>
          <a:prstGeom prst="rect">
            <a:avLst/>
          </a:prstGeom>
        </p:spPr>
      </p:pic>
      <p:sp>
        <p:nvSpPr>
          <p:cNvPr id="6" name="Rectangle 5"/>
          <p:cNvSpPr>
            <a:spLocks noGrp="1"/>
          </p:cNvSpPr>
          <p:nvPr/>
        </p:nvSpPr>
        <p:spPr>
          <a:xfrm>
            <a:off x="749935" y="1233678"/>
            <a:ext cx="449640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" name="文本框 1"/>
          <p:cNvSpPr txBox="1"/>
          <p:nvPr/>
        </p:nvSpPr>
        <p:spPr>
          <a:xfrm>
            <a:off x="353060" y="173990"/>
            <a:ext cx="285369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animBg="1"/>
      <p:bldP spid="11" grpId="0"/>
      <p:bldP spid="12" grpId="0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 animBg="1"/>
      <p:bldP spid="30" grpId="0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 animBg="1"/>
      <p:bldP spid="40" grpId="0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ChatGPT Image 2026年5月19日 10_16_23 (3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5" name="TextBox 4"/>
          <p:cNvSpPr>
            <a:spLocks noGrp="1"/>
          </p:cNvSpPr>
          <p:nvPr/>
        </p:nvSpPr>
        <p:spPr>
          <a:xfrm>
            <a:off x="728471" y="575818"/>
            <a:ext cx="10098345" cy="63627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3200" b="1" dirty="0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真实系统支撑：核心能力已落地</a:t>
            </a:r>
          </a:p>
        </p:txBody>
      </p:sp>
      <p:sp>
        <p:nvSpPr>
          <p:cNvPr id="7" name="TextBox 6"/>
          <p:cNvSpPr>
            <a:spLocks noGrp="1"/>
          </p:cNvSpPr>
          <p:nvPr/>
        </p:nvSpPr>
        <p:spPr>
          <a:xfrm>
            <a:off x="2770505" y="1263650"/>
            <a:ext cx="9417050" cy="41465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--</a:t>
            </a:r>
            <a:r>
              <a:rPr lang="zh-CN" altLang="en-US" sz="2000" b="1" dirty="0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前端、后端、智能体与数据层联通，支撑问答、陪练、预警、计划和查询闭环运行</a:t>
            </a:r>
          </a:p>
        </p:txBody>
      </p:sp>
      <p:sp>
        <p:nvSpPr>
          <p:cNvPr id="10" name="Rounded Rectangle 9"/>
          <p:cNvSpPr>
            <a:spLocks noGrp="1"/>
          </p:cNvSpPr>
          <p:nvPr/>
        </p:nvSpPr>
        <p:spPr>
          <a:xfrm>
            <a:off x="521335" y="2009140"/>
            <a:ext cx="11346815" cy="46507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75030" y="2394585"/>
            <a:ext cx="2157730" cy="2729865"/>
          </a:xfrm>
          <a:prstGeom prst="roundRect">
            <a:avLst/>
          </a:prstGeom>
          <a:solidFill>
            <a:srgbClr val="EEF4FF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042416" y="2487168"/>
            <a:ext cx="585216" cy="4754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2169E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01</a:t>
            </a:r>
          </a:p>
        </p:txBody>
      </p:sp>
      <p:sp>
        <p:nvSpPr>
          <p:cNvPr id="13" name="TextBox 1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042670" y="2849245"/>
            <a:ext cx="1783080" cy="546735"/>
          </a:xfrm>
          <a:prstGeom prst="rect">
            <a:avLst/>
          </a:prstGeom>
          <a:noFill/>
        </p:spPr>
        <p:txBody>
          <a:bodyPr wrap="square" lIns="36576" tIns="22860" rIns="36576" bIns="2286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架构闭环</a:t>
            </a:r>
          </a:p>
          <a:p>
            <a:pPr algn="l">
              <a:lnSpc>
                <a:spcPct val="120000"/>
              </a:lnSpc>
              <a:buNone/>
            </a:pPr>
            <a:endParaRPr lang="zh-CN" altLang="en-US" sz="2200" b="1">
              <a:solidFill>
                <a:srgbClr val="15224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4" name="TextBox 1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87425" y="3221418"/>
            <a:ext cx="1965960" cy="260413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前端 + </a:t>
            </a:r>
            <a:r>
              <a:rPr lang="en-US" altLang="zh-CN" sz="1800" b="0" dirty="0" err="1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FastAPI</a:t>
            </a:r>
            <a:r>
              <a:rPr lang="en-US" altLang="zh-CN" sz="1800" b="0" dirty="0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 +</a:t>
            </a:r>
            <a:r>
              <a:rPr lang="en-US" altLang="zh-CN" sz="1800" b="0" dirty="0" err="1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Dify</a:t>
            </a:r>
            <a:r>
              <a:rPr lang="en-US" altLang="zh-CN" sz="1800" b="0" dirty="0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 + SQLite</a:t>
            </a:r>
          </a:p>
          <a:p>
            <a:pPr algn="l">
              <a:lnSpc>
                <a:spcPct val="132000"/>
              </a:lnSpc>
              <a:buNone/>
            </a:pPr>
            <a:r>
              <a:rPr lang="zh-CN" altLang="en-US" sz="18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完成页面、接口、智能体与数据留存串联。</a:t>
            </a:r>
          </a:p>
          <a:p>
            <a:pPr algn="l">
              <a:lnSpc>
                <a:spcPct val="132000"/>
              </a:lnSpc>
              <a:buNone/>
            </a:pPr>
            <a:endParaRPr lang="en-US" altLang="zh-CN" sz="1800" b="0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  <a:p>
            <a:pPr algn="l">
              <a:lnSpc>
                <a:spcPct val="132000"/>
              </a:lnSpc>
              <a:buNone/>
            </a:pPr>
            <a:endParaRPr lang="en-US" altLang="zh-CN" sz="1800" b="0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5" name="Rounded Rectangle 1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584575" y="2457450"/>
            <a:ext cx="2157730" cy="2666365"/>
          </a:xfrm>
          <a:prstGeom prst="roundRect">
            <a:avLst/>
          </a:prstGeom>
          <a:solidFill>
            <a:srgbClr val="ECFDF3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730752" y="2487168"/>
            <a:ext cx="585216" cy="4754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16A34A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02</a:t>
            </a:r>
          </a:p>
        </p:txBody>
      </p:sp>
      <p:sp>
        <p:nvSpPr>
          <p:cNvPr id="17" name="TextBox 16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3761105" y="2849245"/>
            <a:ext cx="1783080" cy="476250"/>
          </a:xfrm>
          <a:prstGeom prst="rect">
            <a:avLst/>
          </a:prstGeom>
          <a:noFill/>
        </p:spPr>
        <p:txBody>
          <a:bodyPr wrap="square" lIns="36576" tIns="22860" rIns="36576" bIns="2286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工作流支撑</a:t>
            </a:r>
          </a:p>
          <a:p>
            <a:pPr algn="l">
              <a:lnSpc>
                <a:spcPct val="120000"/>
              </a:lnSpc>
              <a:buNone/>
            </a:pPr>
            <a:endParaRPr lang="zh-CN" altLang="en-US" sz="2200" b="1">
              <a:solidFill>
                <a:srgbClr val="15224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8" name="TextBox 1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3684587" y="3221668"/>
            <a:ext cx="1957705" cy="150749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22 条 </a:t>
            </a:r>
            <a:r>
              <a:rPr lang="en-US" altLang="zh-CN" sz="1800" b="0" dirty="0" err="1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Dify</a:t>
            </a:r>
            <a:r>
              <a:rPr lang="en-US" altLang="zh-CN" sz="1800" b="0" dirty="0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 </a:t>
            </a:r>
            <a:r>
              <a:rPr lang="zh-CN" altLang="en-US" sz="1800" b="0" dirty="0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工作流</a:t>
            </a:r>
            <a:endParaRPr lang="zh-CN" altLang="en-US" sz="1800" b="0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  <a:p>
            <a:pPr algn="l">
              <a:lnSpc>
                <a:spcPct val="132000"/>
              </a:lnSpc>
              <a:buNone/>
            </a:pPr>
            <a:r>
              <a:rPr lang="zh-CN" altLang="en-US" sz="18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覆盖问答、陪练、考核、成长、查询和记忆进化。</a:t>
            </a:r>
          </a:p>
        </p:txBody>
      </p:sp>
      <p:sp>
        <p:nvSpPr>
          <p:cNvPr id="19" name="Rounded Rectangle 1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272530" y="2457450"/>
            <a:ext cx="2157730" cy="2666365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TextBox 19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419088" y="2487168"/>
            <a:ext cx="585216" cy="4754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EF4444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03</a:t>
            </a:r>
          </a:p>
        </p:txBody>
      </p:sp>
      <p:sp>
        <p:nvSpPr>
          <p:cNvPr id="21" name="TextBox 20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419088" y="2944368"/>
            <a:ext cx="1783080" cy="45148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智能体协作</a:t>
            </a:r>
          </a:p>
        </p:txBody>
      </p:sp>
      <p:sp>
        <p:nvSpPr>
          <p:cNvPr id="22" name="TextBox 2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294120" y="3325495"/>
            <a:ext cx="2214880" cy="150749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6 类业务 </a:t>
            </a:r>
            <a:r>
              <a:rPr lang="en-US" altLang="zh-CN" sz="1800" b="0" dirty="0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Agent</a:t>
            </a:r>
          </a:p>
          <a:p>
            <a:pPr algn="l">
              <a:lnSpc>
                <a:spcPct val="132000"/>
              </a:lnSpc>
              <a:buNone/>
            </a:pPr>
            <a:r>
              <a:rPr lang="zh-CN" altLang="en-US" sz="18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导师、陪练、考官、客服、分析师、自我进化协同运行。</a:t>
            </a:r>
          </a:p>
        </p:txBody>
      </p:sp>
      <p:sp>
        <p:nvSpPr>
          <p:cNvPr id="23" name="Rounded Rectangle 2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961120" y="2472690"/>
            <a:ext cx="2157730" cy="2651125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C4E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TextBox 2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9107424" y="2487168"/>
            <a:ext cx="585216" cy="475488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F59E0B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04</a:t>
            </a:r>
          </a:p>
        </p:txBody>
      </p:sp>
      <p:sp>
        <p:nvSpPr>
          <p:cNvPr id="25" name="TextBox 2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9107424" y="2944368"/>
            <a:ext cx="1783080" cy="45148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2200" b="1">
                <a:solidFill>
                  <a:srgbClr val="15224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测试验证</a:t>
            </a:r>
          </a:p>
        </p:txBody>
      </p:sp>
      <p:sp>
        <p:nvSpPr>
          <p:cNvPr id="26" name="TextBox 25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8960803" y="3429018"/>
            <a:ext cx="2153920" cy="1141730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l">
              <a:lnSpc>
                <a:spcPct val="132000"/>
              </a:lnSpc>
              <a:buNone/>
            </a:pPr>
            <a:r>
              <a:rPr lang="zh-CN" altLang="en-US" sz="1800" b="0" dirty="0">
                <a:solidFill>
                  <a:srgbClr val="FF0000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50+ 自动化测试文件</a:t>
            </a:r>
            <a:r>
              <a:rPr lang="zh-CN" altLang="en-US" sz="1800" b="0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验证前后端关键模块与业务链路稳定性。</a:t>
            </a:r>
          </a:p>
        </p:txBody>
      </p:sp>
      <p:sp>
        <p:nvSpPr>
          <p:cNvPr id="33" name="Rounded Rectangle 32"/>
          <p:cNvSpPr>
            <a:spLocks noGrp="1"/>
          </p:cNvSpPr>
          <p:nvPr/>
        </p:nvSpPr>
        <p:spPr>
          <a:xfrm>
            <a:off x="875030" y="5358130"/>
            <a:ext cx="10763250" cy="731520"/>
          </a:xfrm>
          <a:prstGeom prst="roundRect">
            <a:avLst/>
          </a:prstGeom>
          <a:solidFill>
            <a:srgbClr val="FFF7E8"/>
          </a:solidFill>
          <a:ln w="15240">
            <a:solidFill>
              <a:srgbClr val="1E53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lnSpc>
                <a:spcPct val="132000"/>
              </a:lnSpc>
              <a:buNone/>
            </a:pPr>
            <a:endParaRPr lang="zh-CN" altLang="en-US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  <a:p>
            <a:pPr algn="l">
              <a:lnSpc>
                <a:spcPct val="132000"/>
              </a:lnSpc>
              <a:buNone/>
            </a:pPr>
            <a:endParaRPr lang="zh-CN" altLang="en-US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  <a:p>
            <a:pPr algn="l">
              <a:lnSpc>
                <a:spcPct val="132000"/>
              </a:lnSpc>
              <a:buNone/>
            </a:pPr>
            <a:endParaRPr lang="zh-CN" altLang="en-US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  <a:p>
            <a:pPr algn="l">
              <a:lnSpc>
                <a:spcPct val="132000"/>
              </a:lnSpc>
              <a:buNone/>
            </a:pPr>
            <a:r>
              <a:rPr lang="zh-CN" altLang="en-US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 </a:t>
            </a:r>
            <a:r>
              <a:rPr lang="en-US" altLang="zh-CN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                                              </a:t>
            </a:r>
            <a:r>
              <a:rPr lang="zh-CN" altLang="en-US" dirty="0">
                <a:solidFill>
                  <a:srgbClr val="536E92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来自联调过程，验证结果可生成、可保存、可追踪</a:t>
            </a:r>
          </a:p>
          <a:p>
            <a:pPr algn="l">
              <a:lnSpc>
                <a:spcPct val="132000"/>
              </a:lnSpc>
              <a:buNone/>
            </a:pPr>
            <a:endParaRPr lang="en-US" altLang="zh-CN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  <a:p>
            <a:pPr algn="l">
              <a:lnSpc>
                <a:spcPct val="132000"/>
              </a:lnSpc>
              <a:buNone/>
            </a:pPr>
            <a:endParaRPr lang="en-US" altLang="zh-CN" dirty="0">
              <a:solidFill>
                <a:srgbClr val="536E92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34" name="TextBox 33"/>
          <p:cNvSpPr>
            <a:spLocks noGrp="1"/>
          </p:cNvSpPr>
          <p:nvPr/>
        </p:nvSpPr>
        <p:spPr>
          <a:xfrm>
            <a:off x="987425" y="5471160"/>
            <a:ext cx="1783080" cy="488315"/>
          </a:xfrm>
          <a:prstGeom prst="rect">
            <a:avLst/>
          </a:prstGeom>
          <a:noFill/>
        </p:spPr>
        <p:txBody>
          <a:bodyPr wrap="square" lIns="36576" tIns="22860" rIns="36576" bIns="22860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2400" b="1">
                <a:solidFill>
                  <a:schemeClr val="accent4">
                    <a:lumMod val="75000"/>
                  </a:schemeClr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05 </a:t>
            </a:r>
            <a:r>
              <a:rPr lang="zh-CN" altLang="en-US" sz="2400" b="1">
                <a:solidFill>
                  <a:schemeClr val="tx1"/>
                </a:solidFill>
                <a:latin typeface="Songti SC" panose="02010800040101010101" charset="-122"/>
                <a:ea typeface="Songti SC" panose="02010800040101010101" charset="-122"/>
                <a:cs typeface="宋体-简" panose="02010800040101010101" charset="-122"/>
              </a:rPr>
              <a:t>运行记录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22580" y="155575"/>
            <a:ext cx="3097530" cy="423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</a:p>
        </p:txBody>
      </p:sp>
      <p:sp>
        <p:nvSpPr>
          <p:cNvPr id="6" name="Rectangle 5"/>
          <p:cNvSpPr>
            <a:spLocks noGrp="1"/>
          </p:cNvSpPr>
          <p:nvPr/>
        </p:nvSpPr>
        <p:spPr>
          <a:xfrm>
            <a:off x="640080" y="1226693"/>
            <a:ext cx="5940000" cy="27432"/>
          </a:xfrm>
          <a:prstGeom prst="rect">
            <a:avLst/>
          </a:prstGeom>
          <a:solidFill>
            <a:srgbClr val="7E5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文本框 40"/>
          <p:cNvSpPr txBox="1"/>
          <p:nvPr/>
        </p:nvSpPr>
        <p:spPr>
          <a:xfrm>
            <a:off x="2534920" y="6233160"/>
            <a:ext cx="806450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/>
              <a:t>这不是 </a:t>
            </a:r>
            <a:r>
              <a:rPr lang="en-US" altLang="zh-CN" sz="1600"/>
              <a:t>PPT </a:t>
            </a:r>
            <a:r>
              <a:rPr lang="zh-CN" altLang="en-US" sz="1600"/>
              <a:t>概念图，而是已经完成“交互—调用—生成—留存—验证”的真实系统。</a:t>
            </a:r>
          </a:p>
        </p:txBody>
      </p:sp>
      <p:sp>
        <p:nvSpPr>
          <p:cNvPr id="48" name="右箭头 47"/>
          <p:cNvSpPr/>
          <p:nvPr/>
        </p:nvSpPr>
        <p:spPr>
          <a:xfrm>
            <a:off x="5767705" y="3592830"/>
            <a:ext cx="458470" cy="188595"/>
          </a:xfrm>
          <a:prstGeom prst="rightArrow">
            <a:avLst/>
          </a:prstGeom>
          <a:solidFill>
            <a:srgbClr val="EEF4FF"/>
          </a:solidFill>
          <a:ln>
            <a:solidFill>
              <a:srgbClr val="B7894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右箭头 48"/>
          <p:cNvSpPr/>
          <p:nvPr/>
        </p:nvSpPr>
        <p:spPr>
          <a:xfrm>
            <a:off x="8477250" y="3592830"/>
            <a:ext cx="458470" cy="188595"/>
          </a:xfrm>
          <a:prstGeom prst="rightArrow">
            <a:avLst/>
          </a:prstGeom>
          <a:solidFill>
            <a:srgbClr val="EEF4FF"/>
          </a:solidFill>
          <a:ln>
            <a:solidFill>
              <a:srgbClr val="B7894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416923" y="5512435"/>
            <a:ext cx="2919730" cy="4146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宋体" pitchFamily="2" charset="-122"/>
              </a:rPr>
              <a:t>1000+ 条业务运行记录</a:t>
            </a:r>
          </a:p>
          <a:p>
            <a:endParaRPr lang="zh-CN" altLang="en-US" dirty="0">
              <a:solidFill>
                <a:srgbClr val="EEF4FF"/>
              </a:solidFill>
              <a:latin typeface="宋体" pitchFamily="2" charset="-122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3039745" y="3608705"/>
            <a:ext cx="458470" cy="188595"/>
          </a:xfrm>
          <a:prstGeom prst="rightArrow">
            <a:avLst/>
          </a:prstGeom>
          <a:solidFill>
            <a:srgbClr val="EEF4FF"/>
          </a:solidFill>
          <a:ln>
            <a:solidFill>
              <a:srgbClr val="B78948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0" grpId="0" animBg="1"/>
      <p:bldP spid="11" grpId="0" bldLvl="0" animBg="1"/>
      <p:bldP spid="12" grpId="0"/>
      <p:bldP spid="13" grpId="0"/>
      <p:bldP spid="14" grpId="0"/>
      <p:bldP spid="15" grpId="0" animBg="1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 animBg="1"/>
      <p:bldP spid="24" grpId="0"/>
      <p:bldP spid="25" grpId="0"/>
      <p:bldP spid="26" grpId="0"/>
      <p:bldP spid="33" grpId="0" animBg="1"/>
      <p:bldP spid="34" grpId="0"/>
      <p:bldP spid="41" grpId="0"/>
      <p:bldP spid="48" grpId="0" animBg="1"/>
      <p:bldP spid="49" grpId="0" animBg="1"/>
      <p:bldP spid="3" grpId="0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hatGPT Image 2026年5月19日 10_16_24 (4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  <p:sp>
        <p:nvSpPr>
          <p:cNvPr id="3" name="TextBox 2"/>
          <p:cNvSpPr>
            <a:spLocks noGrp="1"/>
          </p:cNvSpPr>
          <p:nvPr/>
        </p:nvSpPr>
        <p:spPr>
          <a:xfrm>
            <a:off x="635000" y="1041400"/>
            <a:ext cx="5334000" cy="832985"/>
          </a:xfrm>
          <a:prstGeom prst="rect">
            <a:avLst/>
          </a:prstGeom>
          <a:noFill/>
        </p:spPr>
        <p:txBody>
          <a:bodyPr wrap="square" lIns="73152" tIns="60960" rIns="73152" bIns="6096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42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谢谢聆听</a:t>
            </a:r>
          </a:p>
        </p:txBody>
      </p:sp>
      <p:sp>
        <p:nvSpPr>
          <p:cNvPr id="4" name="TextBox 3"/>
          <p:cNvSpPr>
            <a:spLocks noGrp="1"/>
          </p:cNvSpPr>
          <p:nvPr/>
        </p:nvSpPr>
        <p:spPr>
          <a:xfrm>
            <a:off x="711200" y="2133600"/>
            <a:ext cx="7874000" cy="16325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zh-CN" altLang="en-US" sz="3600" b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我们解决的从不只是“有没有培训内容”，</a:t>
            </a:r>
          </a:p>
          <a:p>
            <a:pPr algn="l">
              <a:lnSpc>
                <a:spcPct val="115000"/>
              </a:lnSpc>
              <a:buNone/>
            </a:pPr>
            <a:r>
              <a:rPr lang="zh-CN" altLang="en-US" sz="3600" b="1">
                <a:solidFill>
                  <a:schemeClr val="tx1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而是“培训能不能真正变成门店能力”。</a:t>
            </a:r>
            <a:endParaRPr lang="zh-CN" altLang="en-US" sz="3600" b="1" dirty="0">
              <a:solidFill>
                <a:schemeClr val="tx1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3151505" y="4667885"/>
            <a:ext cx="4572000" cy="1007745"/>
          </a:xfrm>
          <a:prstGeom prst="rect">
            <a:avLst/>
          </a:prstGeom>
          <a:noFill/>
        </p:spPr>
        <p:txBody>
          <a:bodyPr wrap="square" lIns="73152" tIns="60960" rIns="73152" bIns="60960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zh-CN" altLang="en-US" sz="2400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作品编号：</a:t>
            </a:r>
            <a:r>
              <a:rPr lang="en-US" altLang="zh-CN" sz="2400">
                <a:solidFill>
                  <a:srgbClr val="7E5426"/>
                </a:solidFill>
                <a:latin typeface="宋体" pitchFamily="2" charset="-122"/>
                <a:ea typeface="宋体" pitchFamily="2" charset="-122"/>
                <a:sym typeface="+mn-ea"/>
              </a:rPr>
              <a:t>20269211197</a:t>
            </a:r>
            <a:endParaRPr lang="en-US" altLang="zh-CN" sz="2400">
              <a:solidFill>
                <a:srgbClr val="7E5426"/>
              </a:solidFill>
              <a:latin typeface="宋体" pitchFamily="2" charset="-122"/>
              <a:ea typeface="宋体" pitchFamily="2" charset="-122"/>
            </a:endParaRPr>
          </a:p>
          <a:p>
            <a:pPr algn="ctr">
              <a:lnSpc>
                <a:spcPct val="120000"/>
              </a:lnSpc>
              <a:buNone/>
            </a:pPr>
            <a:r>
              <a:rPr lang="zh-CN" altLang="en-US" sz="24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《珠宝企培数智管家</a:t>
            </a:r>
            <a:r>
              <a:rPr lang="zh-CN" altLang="en-US" sz="2400" b="1">
                <a:solidFill>
                  <a:srgbClr val="1E5349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》</a:t>
            </a:r>
            <a:endParaRPr lang="zh-CN" altLang="en-US" sz="2400" b="1" dirty="0">
              <a:solidFill>
                <a:srgbClr val="1E5349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9" name="TextBox 18"/>
          <p:cNvSpPr>
            <a:spLocks noGrp="1"/>
          </p:cNvSpPr>
          <p:nvPr/>
        </p:nvSpPr>
        <p:spPr>
          <a:xfrm>
            <a:off x="9017000" y="5918200"/>
            <a:ext cx="2603500" cy="459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buNone/>
            </a:pPr>
            <a:r>
              <a:rPr lang="en-US" altLang="zh-CN" sz="1300" b="1">
                <a:solidFill>
                  <a:srgbClr val="FFFFFF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2026 </a:t>
            </a:r>
            <a:r>
              <a:rPr lang="zh-CN" altLang="en-US" sz="1300" b="1">
                <a:solidFill>
                  <a:srgbClr val="FFFFFF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广东省大学生</a:t>
            </a:r>
          </a:p>
          <a:p>
            <a:pPr algn="ctr">
              <a:lnSpc>
                <a:spcPct val="1200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计算机设计大赛</a:t>
            </a:r>
            <a:endParaRPr sz="1300" b="1">
              <a:solidFill>
                <a:srgbClr val="FFFFFF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" name="Closing subtitle"/>
          <p:cNvSpPr txBox="1"/>
          <p:nvPr/>
        </p:nvSpPr>
        <p:spPr>
          <a:xfrm>
            <a:off x="711200" y="4038600"/>
            <a:ext cx="4572000" cy="4305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800" b="1">
                <a:solidFill>
                  <a:srgbClr val="7E5426"/>
                </a:solidFill>
                <a:latin typeface="宋体-简" panose="02010800040101010101" charset="-122"/>
                <a:ea typeface="宋体-简" panose="02010800040101010101" charset="-122"/>
              </a:rPr>
              <a:t>感谢各位专家评委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70.56,&quot;top&quot;:178.56,&quot;width&quot;:804.96}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1093</Words>
  <Application>Microsoft Office PowerPoint</Application>
  <PresentationFormat>宽屏</PresentationFormat>
  <Paragraphs>206</Paragraphs>
  <Slides>14</Slides>
  <Notes>14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Songti SC</vt:lpstr>
      <vt:lpstr>宋体</vt:lpstr>
      <vt:lpstr>宋体-简</vt:lpstr>
      <vt:lpstr>Calibri</vt:lpstr>
      <vt:lpstr>Calibri Light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桦 桦</cp:lastModifiedBy>
  <cp:revision>49</cp:revision>
  <dcterms:created xsi:type="dcterms:W3CDTF">2026-05-24T03:37:21Z</dcterms:created>
  <dcterms:modified xsi:type="dcterms:W3CDTF">2026-05-24T04:16:33Z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7CA3A0F24623232C7E32116A5A9C8CEE_43</vt:lpwstr>
  </property>
  <property fmtid="{D5CDD505-2E9C-101B-9397-08002B2CF9AE}" pid="3" name="KSOProductBuildVer">
    <vt:lpwstr>2052-12.1.25895.25895</vt:lpwstr>
  </property>
</Properties>
</file>